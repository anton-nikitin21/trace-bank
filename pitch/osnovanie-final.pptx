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7327acd5a14097" /><Relationship Type="http://schemas.openxmlformats.org/officeDocument/2006/relationships/extended-properties" Target="/docProps/app.xml" Id="Re8d9509a6b3b4c8c" /><Relationship Type="http://schemas.openxmlformats.org/officeDocument/2006/relationships/officeDocument" Target="/ppt/presentation.xml" Id="R37fccdede23940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7412742d5f43b5"/>
  </p:sldMasterIdLst>
  <p:notesMasterIdLst>
    <p:notesMasterId xmlns:r="http://schemas.openxmlformats.org/officeDocument/2006/relationships" r:id="R05a3d22aad924617"/>
  </p:notesMasterIdLst>
  <p:sldIdLst>
    <p:sldId xmlns:r="http://schemas.openxmlformats.org/officeDocument/2006/relationships" id="256" r:id="R04ffd5d5bb6b4ed7"/>
    <p:sldId xmlns:r="http://schemas.openxmlformats.org/officeDocument/2006/relationships" id="257" r:id="R3c0a6265a4ef4cf2"/>
    <p:sldId xmlns:r="http://schemas.openxmlformats.org/officeDocument/2006/relationships" id="258" r:id="Rb3485584c161433e"/>
    <p:sldId xmlns:r="http://schemas.openxmlformats.org/officeDocument/2006/relationships" id="259" r:id="Reac09468f4bc4d9d"/>
    <p:sldId xmlns:r="http://schemas.openxmlformats.org/officeDocument/2006/relationships" id="260" r:id="Rad68db7411c84163"/>
    <p:sldId xmlns:r="http://schemas.openxmlformats.org/officeDocument/2006/relationships" id="261" r:id="R69f66e897bb84666"/>
    <p:sldId xmlns:r="http://schemas.openxmlformats.org/officeDocument/2006/relationships" id="262" r:id="Rece5dd23d4ff44e7"/>
    <p:sldId xmlns:r="http://schemas.openxmlformats.org/officeDocument/2006/relationships" id="263" r:id="Rbaf40dd52b8a4acc"/>
    <p:sldId xmlns:r="http://schemas.openxmlformats.org/officeDocument/2006/relationships" id="264" r:id="R8e4239c3196a483d"/>
    <p:sldId xmlns:r="http://schemas.openxmlformats.org/officeDocument/2006/relationships" id="265" r:id="Rbec45f8422f04d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f5bdcc35a3464c" /><Relationship Type="http://schemas.openxmlformats.org/officeDocument/2006/relationships/slideMaster" Target="/ppt/slideMasters/slideMaster1.xml" Id="R1c7412742d5f43b5" /><Relationship Type="http://schemas.openxmlformats.org/officeDocument/2006/relationships/notesMaster" Target="/ppt/notesMasters/notesMaster1.xml" Id="R05a3d22aad924617" /><Relationship Type="http://schemas.openxmlformats.org/officeDocument/2006/relationships/presProps" Target="/ppt/presProps.xml" Id="R6167e503ad394a6d" /><Relationship Type="http://schemas.openxmlformats.org/officeDocument/2006/relationships/tableStyles" Target="/ppt/tableStyles.xml" Id="R6c75baadedaa4556" /><Relationship Type="http://schemas.openxmlformats.org/officeDocument/2006/relationships/slide" Target="/ppt/slides/slide1.xml" Id="R04ffd5d5bb6b4ed7" /><Relationship Type="http://schemas.openxmlformats.org/officeDocument/2006/relationships/slide" Target="/ppt/slides/slide2.xml" Id="R3c0a6265a4ef4cf2" /><Relationship Type="http://schemas.openxmlformats.org/officeDocument/2006/relationships/slide" Target="/ppt/slides/slide3.xml" Id="Rb3485584c161433e" /><Relationship Type="http://schemas.openxmlformats.org/officeDocument/2006/relationships/slide" Target="/ppt/slides/slide4.xml" Id="Reac09468f4bc4d9d" /><Relationship Type="http://schemas.openxmlformats.org/officeDocument/2006/relationships/slide" Target="/ppt/slides/slide5.xml" Id="Rad68db7411c84163" /><Relationship Type="http://schemas.openxmlformats.org/officeDocument/2006/relationships/slide" Target="/ppt/slides/slide6.xml" Id="R69f66e897bb84666" /><Relationship Type="http://schemas.openxmlformats.org/officeDocument/2006/relationships/slide" Target="/ppt/slides/slide7.xml" Id="Rece5dd23d4ff44e7" /><Relationship Type="http://schemas.openxmlformats.org/officeDocument/2006/relationships/slide" Target="/ppt/slides/slide8.xml" Id="Rbaf40dd52b8a4acc" /><Relationship Type="http://schemas.openxmlformats.org/officeDocument/2006/relationships/slide" Target="/ppt/slides/slide9.xml" Id="R8e4239c3196a483d" /><Relationship Type="http://schemas.openxmlformats.org/officeDocument/2006/relationships/slide" Target="/ppt/slides/slide10.xml" Id="Rbec45f8422f04d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e725ee24d548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b1d1ece1814de2" /><Relationship Type="http://schemas.openxmlformats.org/officeDocument/2006/relationships/notesMaster" Target="/ppt/notesMasters/notesMaster1.xml" Id="R5b67c4d97f4f40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20fca109994931" /><Relationship Type="http://schemas.openxmlformats.org/officeDocument/2006/relationships/notesMaster" Target="/ppt/notesMasters/notesMaster1.xml" Id="R50adb80d002e4f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90495ca4f546f0" /><Relationship Type="http://schemas.openxmlformats.org/officeDocument/2006/relationships/notesMaster" Target="/ppt/notesMasters/notesMaster1.xml" Id="Rd28eed72e63840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26992b54374672" /><Relationship Type="http://schemas.openxmlformats.org/officeDocument/2006/relationships/notesMaster" Target="/ppt/notesMasters/notesMaster1.xml" Id="R2f2c88a15d0444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a45e000c1c407d" /><Relationship Type="http://schemas.openxmlformats.org/officeDocument/2006/relationships/notesMaster" Target="/ppt/notesMasters/notesMaster1.xml" Id="R7004d8707a6d4b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fdbf7c4efc4b01" /><Relationship Type="http://schemas.openxmlformats.org/officeDocument/2006/relationships/notesMaster" Target="/ppt/notesMasters/notesMaster1.xml" Id="Rdce594bcbc9e45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06108715be4c71" /><Relationship Type="http://schemas.openxmlformats.org/officeDocument/2006/relationships/notesMaster" Target="/ppt/notesMasters/notesMaster1.xml" Id="Rdfca68ee53dd45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baa6fc95ae459c" /><Relationship Type="http://schemas.openxmlformats.org/officeDocument/2006/relationships/notesMaster" Target="/ppt/notesMasters/notesMaster1.xml" Id="Rd142ae89a21f41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9874d346b14da1" /><Relationship Type="http://schemas.openxmlformats.org/officeDocument/2006/relationships/notesMaster" Target="/ppt/notesMasters/notesMaster1.xml" Id="R0e174e4373084e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d226cfb66f467b" /><Relationship Type="http://schemas.openxmlformats.org/officeDocument/2006/relationships/notesMaster" Target="/ppt/notesMasters/notesMaster1.xml" Id="R77fc9abc30154c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Первый спринт, 7 октября 2026 года. Рабочая версия питча, которая будет обновляться по фактическим исследованиям. Команда Super_Бобры.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https://www.cbr.ru/protection_rights/rassmotrenie-obrascheniy-potrebiteley-finansovykh-uslug/ . Регулятор описывает проблему коммуникации и рекомендует адресные объяснения. Частота именно по запросам МСБ и причинная связь с ручным сопоставлением ещё не установлены.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JTBD и сегмент — гипотезы команды. Владелец пилота ещё не назначен. До исследования описываем предлагаемую аудиторию, а не подтверждённый спрос.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локального прототипа, синтетический набор. Источник изображения: собственное приложение. Демонстрация: три операции, пять документов, четыре замечания.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Демо-профиль supply-v1 является синтетическим и не подменяет требования банка. Частичные оплаты суммируются. Аванс не требует первичного документа по этому профилю. Подлинность, подписи и решение по операции — вне автоматической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https://www.directum.ru/clients/projects/osd-case ; https://v8.1c.ru/its/services/1c-sverka/ . Обе страницы проверены 7 октября 2026 года. Не утверждаем отсутствия аналогичной внутренней функции.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Цели и выборки — план команды, не измеренные результаты. Пользовательская проверка и банковская ретроспектива ещё не проведены. На текущем этапе формальные интервью не планируются; учебный замер не доказывает эффект в банке. Для ложной полноты ≤1% нужны независимые неполные кейсы и доверительный интервал, 100 кейсов для этого недостаточно.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значения — допущения команды. Детальная модель: model/financial-model.md, scenarios.json и калькулятор в приложении. CAPEX 2,4 млн ₽, OPEX 1,2 млн ₽/год. Стоимость высвобожденного времени отдельно от доли реализованного эффекта. Простой срок окупаемости без периода разгона и дисконтирования.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Сценарий пилота предложен, банковские договорённости не подтверждены. Проектируется on-prem, правила утверждает владелец процесса. Источник сроков соревнования: https://fintechacademy.ru/task-1 . Критерии второго спринта нужно перепроверить после публикации.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Пользователь сообщил, что участники — senior developers. Формальные интервью на текущем этапе не планируются. Имена, точное число участников, фактическое распределение ролей и обязательства после соревнования пока не предоставлены. До подачи нужно заменить обобщённое описание конкретными подтверждёнными данными. Codex — инструмент разработки, не участник официальной команды.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1852e5508249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efd47c637b407f" /><Relationship Type="http://schemas.openxmlformats.org/officeDocument/2006/relationships/slideLayout" Target="/ppt/slideLayouts/slideLayout1.xml" Id="R47c6d55aa04948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c6d55aa04948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768dad1a34190" /><Relationship Type="http://schemas.openxmlformats.org/officeDocument/2006/relationships/notesSlide" Target="/ppt/notesSlides/notesSlide1.xml" Id="R192982c0325a43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c0debc031434f" /><Relationship Type="http://schemas.openxmlformats.org/officeDocument/2006/relationships/notesSlide" Target="/ppt/notesSlides/notesSlide2.xml" Id="Rc51f656f83a147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0fdf5fecf4217" /><Relationship Type="http://schemas.openxmlformats.org/officeDocument/2006/relationships/notesSlide" Target="/ppt/notesSlides/notesSlide3.xml" Id="Rff8b697d85dc42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b551da9df4a1b" /><Relationship Type="http://schemas.openxmlformats.org/officeDocument/2006/relationships/image" Target="/ppt/media/image.jpeg" Id="R1da60c1c293c4156" /><Relationship Type="http://schemas.openxmlformats.org/officeDocument/2006/relationships/notesSlide" Target="/ppt/notesSlides/notesSlide4.xml" Id="R8941276637a240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d7af4655e4f15" /><Relationship Type="http://schemas.openxmlformats.org/officeDocument/2006/relationships/notesSlide" Target="/ppt/notesSlides/notesSlide5.xml" Id="R3eefc3737bba4e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0eeb1f0ae4776" /><Relationship Type="http://schemas.openxmlformats.org/officeDocument/2006/relationships/notesSlide" Target="/ppt/notesSlides/notesSlide6.xml" Id="R0641ab2d8d9c47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f4d61038c46bd" /><Relationship Type="http://schemas.openxmlformats.org/officeDocument/2006/relationships/notesSlide" Target="/ppt/notesSlides/notesSlide7.xml" Id="R8e49aec3348745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495a56510488f" /><Relationship Type="http://schemas.openxmlformats.org/officeDocument/2006/relationships/notesSlide" Target="/ppt/notesSlides/notesSlide8.xml" Id="R9897ea85547f44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9705f299246b0" /><Relationship Type="http://schemas.openxmlformats.org/officeDocument/2006/relationships/notesSlide" Target="/ppt/notesSlides/notesSlide9.xml" Id="Rde9111f9a3ea4a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5c6e865e4418d" /><Relationship Type="http://schemas.openxmlformats.org/officeDocument/2006/relationships/notesSlide" Target="/ppt/notesSlides/notesSlide10.xml" Id="R2a5e7ed21d854e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B446C-9045-4C79-BB67-BA84A509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Основание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241DE-46B8-4F86-99D0-5AE3641C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Понятный комплект документов</a:t>
            </a:r>
          </a:p>
          <a:p xmlns:a="http://schemas.openxmlformats.org/drawingml/2006/main">
            <a:pPr>
              <a:defRPr sz="41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по запросу банка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8FFD9-04AC-4ABF-A022-F1D94CCC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Сотрудник видит пробелы и проверяет основание каждого замечания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79C3E-0822-4371-8A78-9E1B7812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rPr>
              <a:t>Super_Бобры · Функциональный прототип · Синтетические данные</a:t>
            </a:r>
          </a:p>
        </p:txBody>
      </p:sp>
    </p:spTree>
    <p:extLst>
      <p:ext uri="{BB962C8B-B14F-4D97-AF65-F5344CB8AC3E}">
        <p14:creationId xmlns:p14="http://schemas.microsoft.com/office/powerpoint/2010/main" val="14046415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0A7F4-74CE-40EE-B809-CEC752D4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Проблема повторных запросов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57301-8F76-41C8-B89C-EA84F2C8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Регулятор описывает неинформативные ответы</a:t>
            </a:r>
          </a:p>
          <a:p xmlns:a="http://schemas.openxmlformats.org/drawingml/2006/main">
            <a:pPr>
              <a:defRPr sz="27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и рекомендует объяснять, каких документов не хватает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4BB5F-1444-437C-BC59-5A6EE151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В комплекте могут быть нужные файлы, но не для той операции, контрагента или схемы оплаты.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9C92E-C5A9-4B16-A828-D8B0CEB4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Наша гипотеза: карта требований и оснований уменьшит ручной разбор и лишние уточнения.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112E7-09FA-499C-A3B4-068AAC3A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rPr>
              <a:t>Качественный сигнал: Банк России. Частоту и затраты проверяем в процессе банка.</a:t>
            </a:r>
          </a:p>
        </p:txBody>
      </p:sp>
    </p:spTree>
    <p:extLst>
      <p:ext uri="{BB962C8B-B14F-4D97-AF65-F5344CB8AC3E}">
        <p14:creationId xmlns:p14="http://schemas.microsoft.com/office/powerpoint/2010/main" val="3678566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A4253-2E24-4D5F-8AB1-D2FED81C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Пользователь и задача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7372A-9FB8-42B9-BBA0-83D7B9A5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Сотрудник, проверяющий документы бизнес-клиента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235C6-BC75-4A3B-9F3E-652A0502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Когда клиент прислал ответ на запрос, я хочу увидеть, какие требования подтверждены и какие требуют уточнения, чтобы продолжить рассмотрение без повторного просмотра всей папки.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CCEB7-E6CA-482C-A9C0-E8C10C27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Клиент получает конкретный список дополнений.</a:t>
            </a:r>
          </a:p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Владелец процесса измеряет время и повторные запросы.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29DFE-FC23-4B36-89FE-ED45468C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rPr>
              <a:t>Начальный охват пилота: предложение 10–20 сотрудников, один профиль запроса.</a:t>
            </a:r>
          </a:p>
        </p:txBody>
      </p:sp>
    </p:spTree>
    <p:extLst>
      <p:ext uri="{BB962C8B-B14F-4D97-AF65-F5344CB8AC3E}">
        <p14:creationId xmlns:p14="http://schemas.microsoft.com/office/powerpoint/2010/main" val="7823246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B66D0-AB7B-4ADC-B92B-527924CE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Работающий сценарий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D2B46-5475-4E9D-ADB6-FE557DDF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Операции связаны с документами. Замечание ведёт к строке источника.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60c1c293c4156"/>
          <a:stretch xmlns:a="http://schemas.openxmlformats.org/drawingml/2006/main"/>
        </p:blipFill>
        <p:spPr>
          <a:xfrm xmlns:a="http://schemas.openxmlformats.org/drawingml/2006/main">
            <a:off x="3215640" y="1933575"/>
            <a:ext cx="5760720" cy="4000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A4817-EEA7-48A8-B831-B8234ED9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rPr>
              <a:t>JSON / TXT вход. Распознавание произвольных сканов ещё предстоит подключить.</a:t>
            </a:r>
          </a:p>
        </p:txBody>
      </p:sp>
    </p:spTree>
    <p:extLst>
      <p:ext uri="{BB962C8B-B14F-4D97-AF65-F5344CB8AC3E}">
        <p14:creationId xmlns:p14="http://schemas.microsoft.com/office/powerpoint/2010/main" val="6717624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F2CF3-135E-4272-A6A5-12E2597D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Проверяемые правила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4C230-A8B4-4685-8BBE-DA71D666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3F6E4-E02C-4C3F-95BB-C2A4C22F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43075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Операции и документы связываются по договору и ИНН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26364-20B9-4C1D-B400-A2360110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10E01-8806-48F2-B9D6-B5C3F1C9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24175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Полный расчёт и аванс проверяются по разным требованиям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71CE8-A562-41B6-8A26-B536A270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94952-255E-48C5-8DB8-99624164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48150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Каждый пробел имеет источник или понятную причину</a:t>
            </a:r>
          </a:p>
          <a:p xmlns:a="http://schemas.openxmlformats.org/drawingml/2006/main">
            <a:pPr>
              <a:def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для ручной проверки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B692A-9D77-4B2C-9337-77A412C1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rPr>
              <a:t>Комплектность по профилю помогает проверке сотрудника. Банковское решение остаётся у банка.</a:t>
            </a:r>
          </a:p>
        </p:txBody>
      </p:sp>
    </p:spTree>
    <p:extLst>
      <p:ext uri="{BB962C8B-B14F-4D97-AF65-F5344CB8AC3E}">
        <p14:creationId xmlns:p14="http://schemas.microsoft.com/office/powerpoint/2010/main" val="16789129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E98EF-E859-4239-9230-F6FF4454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Отличие проверим на текущем процессе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FE862-B232-479B-B599-A25F0686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Существующие решения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CE768-8A2F-4572-B57A-F228983A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143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Directum извлекает реквизиты.</a:t>
            </a:r>
          </a:p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1С уже сверяет первичные документы.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9D21A-ADA5-4D5E-9F6A-2D04D01D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4782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Карта конкретного запроса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66BF3-CC68-4345-860F-E2350BAC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857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Связь с пунктом запроса, группой операций, пробелом и адресным уточнением.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5A2EC-D46D-4F6A-8793-9D8AA6BD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Основное сравнение: текущая CRM / ДБО и ручной чек-лист</a:t>
            </a:r>
          </a:p>
          <a:p xmlns:a="http://schemas.openxmlformats.org/drawingml/2006/main">
            <a:pPr>
              <a:def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на одинаковых кейсах, с учётом времени проверки результата.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39EE8-4F13-4C0E-9645-446BF7EA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rPr>
              <a:t>Абсолютная уникальность и преимущество над банковскими настройками пока не подтверждены.</a:t>
            </a:r>
          </a:p>
        </p:txBody>
      </p:sp>
    </p:spTree>
    <p:extLst>
      <p:ext uri="{BB962C8B-B14F-4D97-AF65-F5344CB8AC3E}">
        <p14:creationId xmlns:p14="http://schemas.microsoft.com/office/powerpoint/2010/main" val="1523680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2506E-7477-4CF7-80D9-0766A523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Метрики и доказательства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3FD9A-8F3E-426D-92EA-B44B6FA8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−25%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C53C5-A06D-4C44-9CBF-FD92FD2E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медианное активное время</a:t>
            </a:r>
          </a:p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разбора: цель пилота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D8822-4AE5-48B1-AE87-C75A7454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811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−20%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4EAB4-8D96-440E-8470-56EC41AB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повторные запросы</a:t>
            </a:r>
          </a:p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из-за неполноты: цель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7D7B5-6977-4925-901C-C13CD4C8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85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Качество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512E1-5230-4FE5-A2AB-963D1AF5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0350"/>
            <a:ext cx="2619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Не ухудшается.</a:t>
            </a:r>
          </a:p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Ложная полнота</a:t>
            </a:r>
          </a:p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под отдельным контролем.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97D80-BC01-42C4-BF8C-5BB30307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Есть: источники, прототип, 16 тестов правил и API.</a:t>
            </a:r>
          </a:p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Далее: сравнение на учебных задачах.</a:t>
            </a:r>
          </a:p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Пользовательская проверка ещё не проведена.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04795-809B-4312-9F2D-3822F80F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rPr>
              <a:t>Цели сравниваются с контролем. Синтетические тесты не доказывают качество на банковских документах.</a:t>
            </a:r>
          </a:p>
        </p:txBody>
      </p:sp>
    </p:spTree>
    <p:extLst>
      <p:ext uri="{BB962C8B-B14F-4D97-AF65-F5344CB8AC3E}">
        <p14:creationId xmlns:p14="http://schemas.microsoft.com/office/powerpoint/2010/main" val="1763570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A73C2-AB5D-44F3-9CD9-A2C4818F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Экономика зависит от потока кейсов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190750"/>
                <a:gridCol w="3286125"/>
                <a:gridCol w="2543175"/>
              </a:tblGrid>
              <a:tr h="6548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6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Сценарий</a:t>
                      </a:r>
                    </a:p>
                  </a:txBody>
                  <a:tcPr marL="114300" marR="114300" marT="133350" marB="133350">
                    <a:solidFill>
                      <a:srgbClr val="E8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6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Кейсов/год</a:t>
                      </a:r>
                    </a:p>
                  </a:txBody>
                  <a:tcPr marL="114300" marR="114300" marT="133350" marB="133350">
                    <a:solidFill>
                      <a:srgbClr val="E8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6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Чистый эффект/год</a:t>
                      </a:r>
                    </a:p>
                  </a:txBody>
                  <a:tcPr marL="114300" marR="114300" marT="133350" marB="133350">
                    <a:solidFill>
                      <a:srgbClr val="E8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6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Окупаемость</a:t>
                      </a:r>
                    </a:p>
                  </a:txBody>
                  <a:tcPr marL="114300" marR="114300" marT="133350" marB="133350">
                    <a:solidFill>
                      <a:srgbClr val="E8F0EA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Осторожный</a:t>
                      </a:r>
                    </a:p>
                  </a:txBody>
                  <a:tcPr marL="114300" marR="114300" marT="133350" marB="1333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30 000</a:t>
                      </a:r>
                    </a:p>
                  </a:txBody>
                  <a:tcPr marL="114300" marR="114300" marT="133350" marB="1333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−1,14 млн ₽</a:t>
                      </a:r>
                    </a:p>
                  </a:txBody>
                  <a:tcPr marL="114300" marR="114300" marT="133350" marB="1333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Нет</a:t>
                      </a:r>
                    </a:p>
                  </a:txBody>
                  <a:tcPr marL="114300" marR="114300" marT="133350" marB="133350"/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Умеренный</a:t>
                      </a:r>
                    </a:p>
                  </a:txBody>
                  <a:tcPr marL="114300" marR="114300" marT="133350" marB="1333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60 000</a:t>
                      </a:r>
                    </a:p>
                  </a:txBody>
                  <a:tcPr marL="114300" marR="114300" marT="133350" marB="1333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−66 тыс. ₽</a:t>
                      </a:r>
                    </a:p>
                  </a:txBody>
                  <a:tcPr marL="114300" marR="114300" marT="133350" marB="1333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Нет</a:t>
                      </a:r>
                    </a:p>
                  </a:txBody>
                  <a:tcPr marL="114300" marR="114300" marT="133350" marB="133350"/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Масштаб</a:t>
                      </a:r>
                    </a:p>
                  </a:txBody>
                  <a:tcPr marL="114300" marR="114300" marT="133350" marB="1333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120 000</a:t>
                      </a:r>
                    </a:p>
                  </a:txBody>
                  <a:tcPr marL="114300" marR="114300" marT="133350" marB="1333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6,48 млн ₽</a:t>
                      </a:r>
                    </a:p>
                  </a:txBody>
                  <a:tcPr marL="114300" marR="114300" marT="133350" marB="1333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4,4 мес.</a:t>
                      </a:r>
                    </a:p>
                  </a:txBody>
                  <a:tcPr marL="114300" marR="114300" marT="133350" marB="133350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B26F4-7345-427E-93A1-7E49FEA6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Умеренный сценарий пока не покрывает эксплуатацию.</a:t>
            </a:r>
          </a:p>
          <a:p xmlns:a="http://schemas.openxmlformats.org/drawingml/2006/main">
            <a:pPr>
              <a:def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Порог проверяем до решения о внедрении.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E7BFB-16FE-44A4-830E-70FC51A5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rPr>
              <a:t>Сценарные допущения, не данные ВТБ. Денежный эффект учитывает реализацию высвобождённого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1382590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EC44E-4F1E-41CC-90E1-DD2BF812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Пилот и масштабирование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8D61B-B6E8-4878-B9EA-C8E48A35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Узкий профиль в банковском контуре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4DE00-7E4B-4F79-8C44-71122793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Ретроспектива и независимая оценка качества.</a:t>
            </a:r>
          </a:p>
          <a:p xmlns:a="http://schemas.openxmlformats.org/drawingml/2006/main">
            <a:pPr>
              <a:def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Затем 4–6 недель работы с 10–20 сотрудниками.</a:t>
            </a:r>
          </a:p>
          <a:p xmlns:a="http://schemas.openxmlformats.org/drawingml/2006/main">
            <a:pPr>
              <a:def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Уточнения проверяет и отправляет сотрудник банка.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7E593-7618-45F2-B28C-F2D0CD97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Новые профили подключаем после отдельной проверки.</a:t>
            </a:r>
          </a:p>
          <a:p xmlns:a="http://schemas.openxmlformats.org/drawingml/2006/main">
            <a:pPr>
              <a:def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Интеграция с CRM / ДБО через согласованные адаптеры.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C4031-04B3-442F-889B-F8A8440C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rPr>
              <a:t>Условия продолжения: качество, измеримый эффект, владелец процесса и положительная экономика.</a:t>
            </a:r>
          </a:p>
        </p:txBody>
      </p:sp>
    </p:spTree>
    <p:extLst>
      <p:ext uri="{BB962C8B-B14F-4D97-AF65-F5344CB8AC3E}">
        <p14:creationId xmlns:p14="http://schemas.microsoft.com/office/powerpoint/2010/main" val="8589679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D64D1-A33D-4F45-B2F4-8A138386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Команда и запрос к банку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8819E-317E-466E-99B3-8D8E7648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Super_Бобры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1A65F-33DE-475E-85B8-099AC7B0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57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Senior developers: разработка и интеграция.</a:t>
            </a:r>
          </a:p>
          <a:p xmlns:a="http://schemas.openxmlformats.org/drawingml/2006/main">
            <a:pPr>
              <a:def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Контакт команды: Тимофей Франчук.</a:t>
            </a:r>
          </a:p>
          <a:p xmlns:a="http://schemas.openxmlformats.org/drawingml/2006/main">
            <a:pPr>
              <a:def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Пользовательская проверка ещё не проведена.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28539-1AD4-47D7-8FDD-7B5B0D02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Предлагаемый путь: один профиль и 10–20 сотрудников.</a:t>
            </a:r>
          </a:p>
          <a:p xmlns:a="http://schemas.openxmlformats.org/drawingml/2006/main">
            <a:pPr>
              <a:def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Пилот требует согласования с владельцем процесса.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FE413-A7F7-46DD-83F7-0861C3FE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rPr>
              <a:t>По сведениям команды. Состав, персональные роли и продолжение после хакатона подтверждаются до подачи.</a:t>
            </a:r>
          </a:p>
        </p:txBody>
      </p:sp>
    </p:spTree>
    <p:extLst>
      <p:ext uri="{BB962C8B-B14F-4D97-AF65-F5344CB8AC3E}">
        <p14:creationId xmlns:p14="http://schemas.microsoft.com/office/powerpoint/2010/main" val="1365735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2026-10-07T12:02:50.4220000Z</dcterms:created>
  <dcterms:modified xsi:type="dcterms:W3CDTF">2026-10-07T12:02:50.4220000Z</dcterms:modified>
</coreProperties>
</file>