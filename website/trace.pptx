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f5b33acbf43c1" /><Relationship Type="http://schemas.openxmlformats.org/officeDocument/2006/relationships/extended-properties" Target="/docProps/app.xml" Id="R50b3428b02db4a1b" /><Relationship Type="http://schemas.openxmlformats.org/officeDocument/2006/relationships/officeDocument" Target="/ppt/presentation.xml" Id="Re2d9009ae82048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3799ea92944aae"/>
  </p:sldMasterIdLst>
  <p:notesMasterIdLst>
    <p:notesMasterId xmlns:r="http://schemas.openxmlformats.org/officeDocument/2006/relationships" r:id="Refc795b33f204f20"/>
  </p:notesMasterIdLst>
  <p:sldIdLst>
    <p:sldId xmlns:r="http://schemas.openxmlformats.org/officeDocument/2006/relationships" id="256" r:id="R2f8c2ea5849544d8"/>
    <p:sldId xmlns:r="http://schemas.openxmlformats.org/officeDocument/2006/relationships" id="257" r:id="R4079356d67d44465"/>
    <p:sldId xmlns:r="http://schemas.openxmlformats.org/officeDocument/2006/relationships" id="258" r:id="Ra9de47dd02c54246"/>
    <p:sldId xmlns:r="http://schemas.openxmlformats.org/officeDocument/2006/relationships" id="259" r:id="Rbb241e6ca7804fbe"/>
    <p:sldId xmlns:r="http://schemas.openxmlformats.org/officeDocument/2006/relationships" id="260" r:id="Re47d088c177740aa"/>
    <p:sldId xmlns:r="http://schemas.openxmlformats.org/officeDocument/2006/relationships" id="261" r:id="R4de4c40640ac4c33"/>
    <p:sldId xmlns:r="http://schemas.openxmlformats.org/officeDocument/2006/relationships" id="262" r:id="R6c3fc6c5bbd1474e"/>
    <p:sldId xmlns:r="http://schemas.openxmlformats.org/officeDocument/2006/relationships" id="263" r:id="R97d4600fd785495c"/>
    <p:sldId xmlns:r="http://schemas.openxmlformats.org/officeDocument/2006/relationships" id="264" r:id="Rf0ab3b0d73fd47a3"/>
    <p:sldId xmlns:r="http://schemas.openxmlformats.org/officeDocument/2006/relationships" id="265" r:id="R31057ec4c7c4465c"/>
    <p:sldId xmlns:r="http://schemas.openxmlformats.org/officeDocument/2006/relationships" id="266" r:id="Rd96f84a4a737416f"/>
    <p:sldId xmlns:r="http://schemas.openxmlformats.org/officeDocument/2006/relationships" id="267" r:id="Re9fcb3230c484b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17651222db446f" /><Relationship Type="http://schemas.openxmlformats.org/officeDocument/2006/relationships/slideMaster" Target="/ppt/slideMasters/slideMaster1.xml" Id="Rac3799ea92944aae" /><Relationship Type="http://schemas.openxmlformats.org/officeDocument/2006/relationships/notesMaster" Target="/ppt/notesMasters/notesMaster1.xml" Id="Refc795b33f204f20" /><Relationship Type="http://schemas.openxmlformats.org/officeDocument/2006/relationships/presProps" Target="/ppt/presProps.xml" Id="Rc735127c369b4cb6" /><Relationship Type="http://schemas.openxmlformats.org/officeDocument/2006/relationships/tableStyles" Target="/ppt/tableStyles.xml" Id="R2abc47fa0e4f4be3" /><Relationship Type="http://schemas.openxmlformats.org/officeDocument/2006/relationships/slide" Target="/ppt/slides/slide1.xml" Id="R2f8c2ea5849544d8" /><Relationship Type="http://schemas.openxmlformats.org/officeDocument/2006/relationships/slide" Target="/ppt/slides/slide2.xml" Id="R4079356d67d44465" /><Relationship Type="http://schemas.openxmlformats.org/officeDocument/2006/relationships/slide" Target="/ppt/slides/slide3.xml" Id="Ra9de47dd02c54246" /><Relationship Type="http://schemas.openxmlformats.org/officeDocument/2006/relationships/slide" Target="/ppt/slides/slide4.xml" Id="Rbb241e6ca7804fbe" /><Relationship Type="http://schemas.openxmlformats.org/officeDocument/2006/relationships/slide" Target="/ppt/slides/slide5.xml" Id="Re47d088c177740aa" /><Relationship Type="http://schemas.openxmlformats.org/officeDocument/2006/relationships/slide" Target="/ppt/slides/slide6.xml" Id="R4de4c40640ac4c33" /><Relationship Type="http://schemas.openxmlformats.org/officeDocument/2006/relationships/slide" Target="/ppt/slides/slide7.xml" Id="R6c3fc6c5bbd1474e" /><Relationship Type="http://schemas.openxmlformats.org/officeDocument/2006/relationships/slide" Target="/ppt/slides/slide8.xml" Id="R97d4600fd785495c" /><Relationship Type="http://schemas.openxmlformats.org/officeDocument/2006/relationships/slide" Target="/ppt/slides/slide9.xml" Id="Rf0ab3b0d73fd47a3" /><Relationship Type="http://schemas.openxmlformats.org/officeDocument/2006/relationships/slide" Target="/ppt/slides/slide10.xml" Id="R31057ec4c7c4465c" /><Relationship Type="http://schemas.openxmlformats.org/officeDocument/2006/relationships/slide" Target="/ppt/slides/slide11.xml" Id="Rd96f84a4a737416f" /><Relationship Type="http://schemas.openxmlformats.org/officeDocument/2006/relationships/slide" Target="/ppt/slides/slide12.xml" Id="Re9fcb3230c484b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895d1f002842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e90f2195f54e86" /><Relationship Type="http://schemas.openxmlformats.org/officeDocument/2006/relationships/notesMaster" Target="/ppt/notesMasters/notesMaster1.xml" Id="R6919f6a7fa04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e0baae4cd149d4" /><Relationship Type="http://schemas.openxmlformats.org/officeDocument/2006/relationships/notesMaster" Target="/ppt/notesMasters/notesMaster1.xml" Id="R66ae3002aeaa43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eea7c247f24ce8" /><Relationship Type="http://schemas.openxmlformats.org/officeDocument/2006/relationships/notesMaster" Target="/ppt/notesMasters/notesMaster1.xml" Id="Rd13adebb505043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4263cbbc3149e5" /><Relationship Type="http://schemas.openxmlformats.org/officeDocument/2006/relationships/notesMaster" Target="/ppt/notesMasters/notesMaster1.xml" Id="R8a3bb0d4f90c48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5956ba0af44d31" /><Relationship Type="http://schemas.openxmlformats.org/officeDocument/2006/relationships/notesMaster" Target="/ppt/notesMasters/notesMaster1.xml" Id="R2c385ec6df8b44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22d634cbb74a76" /><Relationship Type="http://schemas.openxmlformats.org/officeDocument/2006/relationships/notesMaster" Target="/ppt/notesMasters/notesMaster1.xml" Id="R18ed4e4665db4f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1e4fe9763742e1" /><Relationship Type="http://schemas.openxmlformats.org/officeDocument/2006/relationships/notesMaster" Target="/ppt/notesMasters/notesMaster1.xml" Id="R882b030c176841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068e35ab1c41d2" /><Relationship Type="http://schemas.openxmlformats.org/officeDocument/2006/relationships/notesMaster" Target="/ppt/notesMasters/notesMaster1.xml" Id="R1df9a7fbfa6149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bf2a6a27e849e7" /><Relationship Type="http://schemas.openxmlformats.org/officeDocument/2006/relationships/notesMaster" Target="/ppt/notesMasters/notesMaster1.xml" Id="R464c7c2fe00449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3f6bdb91b74ed1" /><Relationship Type="http://schemas.openxmlformats.org/officeDocument/2006/relationships/notesMaster" Target="/ppt/notesMasters/notesMaster1.xml" Id="R5832aeaab0a84a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7065bfa6174cef" /><Relationship Type="http://schemas.openxmlformats.org/officeDocument/2006/relationships/notesMaster" Target="/ppt/notesMasters/notesMaster1.xml" Id="Ra55c0153336c45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0076f7c7654086" /><Relationship Type="http://schemas.openxmlformats.org/officeDocument/2006/relationships/notesMaster" Target="/ppt/notesMasters/notesMaster1.xml" Id="R4b95f3f451e747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Super_Бобры. Первый спринт,17 октября2026. Работающий прототип, синтетические документы. Контакт: Тимофей Франчук.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проверены17.10.2026: https://www.tbank.ru/business/help/account/currency-ruble/actions/115-fz/ ; https://www.cbr.ru/protection_rights/rassmotrenie-obrascheniy-potrebiteley-finansovykh-uslug/. Банк описывает процесс, регулятор рекомендует адресность. Ни один источник не устанавливает частоту ручных ошибок или эффект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JTBD и сегмент являются гипотезой команды. Роль менеджера может ограничиваться передачей комплекта. Это предстоит уточнить в беседе18.10.2026. Пилот не согласован.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Собственный скриншот браузерного прототипа. Три синтетические операции, пять документов, четыре замечания. После дополнения ноль замечаний по профилю supply-v1.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профиль supply-v1 является демонстрационным. Содержание, подлинность, подписи, достаточность для банковского процесса и решение оценивает сотрудник.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https://v8.1c.ru/its/services/1c-sverka/; https://www.directum.ru/blog-post/directum_ario_one__ai-sistema_dlja_obrabotki_dokumentov_sovmestimaja_s_ljubymi_klassami_po. Проверены17.10.2026. 1С поддерживает переход к источнику. Directum уже включает комплектование и проверку комплектности. Преимущество Trace перед банковскими настройками не установлено.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reports/tests.txt; reports/benchmark-summary.json; reports/benchmark-cases.json. Seed17102026. Метки сформированы из описанных мутаций до запуска правил. Повторяемые шаблоны не являются независимой банковской выборкой.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проценты являются целями будущего пилота, не полученными результатами. Основная метрика: медиана активных минут на завершённый подходящий кейс, включая проверку и исправление результата. Дополнительная: относительное изменение доли повторов из-за неполноты.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Официальный кейс оценивает охват для внутренних решений: https://fintechacademy.ru/task-1. Числа10–20 являются предлагаемым дизайном пилота. Пользователи и поток не подтверждены. Реестр МСП не используется как TAM рабочих мест.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параметры являются допущениями команды. e=.6,a=.7,средняя экономия6мин,час900₽,реализация.5,CAPEX2.4млн₽,OPEX1.2млн₽/год. Простой срок окупаемости после выхода на стабильный режим. Формульная модель в analytics/Trace-financial-model.xlsx.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Сроки соревнования: https://fintechacademy.ru/task-1. Пилот4–6недель с10–20сотрудниками является предложением, не договорённостью. Базовые правила не зависят от внешней генеративной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предоставлен командой17.10.2026. Распределение ролей сформировано по просьбе пользователя как план ответственности. Предыдущий опыт и подтверждённые специализации не заявляются.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630268e8445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24efdfb394b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8d7ceb3f947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d3fb509b644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b9aea792041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51071b87f42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23BCE5-C5C4-478A-8F6C-C9D2FF82D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4687-67CD-4B26-9125-6BD2ABD588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DCD6EF-38AB-46EE-B18C-5254549D6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DC6F14-8B4A-4225-AB0C-1E5B58516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76BA70-A3BB-40F0-8AC1-C59C1B37CD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B976FB-EF0C-4E12-A7FA-2CEC3D60E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F85028-1B1D-4C16-A54E-E22A1EED3E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1F50A3-7647-4E4E-AEA1-70720E0EFC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716B89-964F-44D0-A1F1-7B541BA2B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93CE52-BCF9-4BAD-8D98-91011B855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ce6ed439d04699" /><Relationship Type="http://schemas.openxmlformats.org/officeDocument/2006/relationships/slideLayout" Target="/ppt/slideLayouts/slideLayout1.xml" Id="R7ebeed2c503b46c2" /><Relationship Type="http://schemas.openxmlformats.org/officeDocument/2006/relationships/slideLayout" Target="/ppt/slideLayouts/slideLayout2.xml" Id="R891c52878d644729" /><Relationship Type="http://schemas.openxmlformats.org/officeDocument/2006/relationships/slideLayout" Target="/ppt/slideLayouts/slideLayout3.xml" Id="R3f47e74c326c425d" /><Relationship Type="http://schemas.openxmlformats.org/officeDocument/2006/relationships/slideLayout" Target="/ppt/slideLayouts/slideLayout4.xml" Id="R4e952754f69c48bf" /><Relationship Type="http://schemas.openxmlformats.org/officeDocument/2006/relationships/slideLayout" Target="/ppt/slideLayouts/slideLayout5.xml" Id="Rbc1a4cad407846a0" /><Relationship Type="http://schemas.openxmlformats.org/officeDocument/2006/relationships/slideLayout" Target="/ppt/slideLayouts/slideLayout6.xml" Id="R3130196211ba45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beed2c503b46c2"/>
    <p:sldLayoutId xmlns:r="http://schemas.openxmlformats.org/officeDocument/2006/relationships" id="2147483650" r:id="R891c52878d644729"/>
    <p:sldLayoutId xmlns:r="http://schemas.openxmlformats.org/officeDocument/2006/relationships" id="2147483651" r:id="R3f47e74c326c425d"/>
    <p:sldLayoutId xmlns:r="http://schemas.openxmlformats.org/officeDocument/2006/relationships" id="2147483652" r:id="R4e952754f69c48bf"/>
    <p:sldLayoutId xmlns:r="http://schemas.openxmlformats.org/officeDocument/2006/relationships" id="2147483653" r:id="Rbc1a4cad407846a0"/>
    <p:sldLayoutId xmlns:r="http://schemas.openxmlformats.org/officeDocument/2006/relationships" id="2147483654" r:id="R3130196211ba45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4316cebc2c4464" /><Relationship Type="http://schemas.openxmlformats.org/officeDocument/2006/relationships/image" Target="/ppt/media/image.jpeg" Id="Raf86985620214b50" /><Relationship Type="http://schemas.openxmlformats.org/officeDocument/2006/relationships/notesSlide" Target="/ppt/notesSlides/notesSlide1.xml" Id="Ra0236eb6ec574c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4e3c0570d467b" /><Relationship Type="http://schemas.openxmlformats.org/officeDocument/2006/relationships/notesSlide" Target="/ppt/notesSlides/notesSlide2.xml" Id="Rf073dad5402f40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af075e3144c98" /><Relationship Type="http://schemas.openxmlformats.org/officeDocument/2006/relationships/notesSlide" Target="/ppt/notesSlides/notesSlide3.xml" Id="R349e910398644c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f5faeda984964" /><Relationship Type="http://schemas.openxmlformats.org/officeDocument/2006/relationships/image" Target="/ppt/media/image2.jpeg" Id="R5156ff3f44fe4512" /><Relationship Type="http://schemas.openxmlformats.org/officeDocument/2006/relationships/notesSlide" Target="/ppt/notesSlides/notesSlide4.xml" Id="R5aa3938168e648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ef51fc76e480b" /><Relationship Type="http://schemas.openxmlformats.org/officeDocument/2006/relationships/notesSlide" Target="/ppt/notesSlides/notesSlide5.xml" Id="R26c40a9ff26a40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580e28c0743c7" /><Relationship Type="http://schemas.openxmlformats.org/officeDocument/2006/relationships/notesSlide" Target="/ppt/notesSlides/notesSlide6.xml" Id="R73fbf4cfe2be40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a6d0466c74753" /><Relationship Type="http://schemas.openxmlformats.org/officeDocument/2006/relationships/notesSlide" Target="/ppt/notesSlides/notesSlide7.xml" Id="Rca513257be4d43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bdae7f45c4bec" /><Relationship Type="http://schemas.openxmlformats.org/officeDocument/2006/relationships/notesSlide" Target="/ppt/notesSlides/notesSlide8.xml" Id="Rf11c78dc934849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ccc95454a4d2f" /><Relationship Type="http://schemas.openxmlformats.org/officeDocument/2006/relationships/notesSlide" Target="/ppt/notesSlides/notesSlide9.xml" Id="Rae897326856240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0eb268ebc4fc4" /><Relationship Type="http://schemas.openxmlformats.org/officeDocument/2006/relationships/notesSlide" Target="/ppt/notesSlides/notesSlide10.xml" Id="R4dccd9dd2f5a4c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6b756a7af43c0" /><Relationship Type="http://schemas.openxmlformats.org/officeDocument/2006/relationships/notesSlide" Target="/ppt/notesSlides/notesSlide11.xml" Id="R0597add6644046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dacaa256e45ef" /><Relationship Type="http://schemas.openxmlformats.org/officeDocument/2006/relationships/notesSlide" Target="/ppt/notesSlides/notesSlide12.xml" Id="R505de3b6dda846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E9BAE-026A-4EFF-A39B-FB25FC5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520DD-F411-48F6-9AEF-8BDDE0A7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2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Документы бизнеса.</a:t>
            </a:r>
          </a:p>
          <a:p xmlns:a="http://schemas.openxmlformats.org/drawingml/2006/main">
            <a:pPr>
              <a:defRPr sz="42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Понятные связи.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438B9-58F8-484B-BC79-955596C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Сотрудник видит пробел</a:t>
            </a:r>
          </a:p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 проверяет основание</a:t>
            </a:r>
          </a:p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каждого замечания.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A3C8A-0620-4554-86B0-778FAB12E2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6985620214b50"/>
          <a:stretch xmlns:a="http://schemas.openxmlformats.org/drawingml/2006/main"/>
        </p:blipFill>
        <p:spPr>
          <a:xfrm xmlns:a="http://schemas.openxmlformats.org/drawingml/2006/main">
            <a:off x="5857875" y="1698162"/>
            <a:ext cx="5810250" cy="383315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01B35-4490-428F-9097-8A36110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Super_Бобры. Спринт 01. Публичное демо содержит только вымышленные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363769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73889-6002-4FD8-B67B-AAAB07E5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Запрос документов требует контекста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85C9A-E5E5-4223-944A-72F93322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ПРОЦЕСС БИЗНЕС-КЛИЕНТА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1C006-16D9-4B75-AE18-FD014F57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Банк запрашивает договоры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 подтверждения операций.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Точный комплект зависит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от конкретной ситуации.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DCC2E-FFBD-4A1E-B7B3-BB20FBDA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АДРЕСНОЕ ОБЪЯСНЕНИЕ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4B003-F875-48D2-A5BA-B1682210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76475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Банк России рекомендует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объяснять повторный запрос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 перечислять конкретные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недостающие сведения.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AA76D-5926-4892-8335-2197B1C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Гипотеза: карта связей уменьшит повторный просмотр</a:t>
            </a:r>
          </a:p>
          <a:p xmlns:a="http://schemas.openxmlformats.org/drawingml/2006/main">
            <a:pPr>
              <a:defRPr sz="2250" b="0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комплекта и поможет подготовить точное уточнение.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734BE-DE7B-4861-8A2A-9EB3EFC2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Источники: Т-Банк и Банк России. Частота проблемы в выбранном банке пока не измерена.</a:t>
            </a:r>
          </a:p>
        </p:txBody>
      </p:sp>
    </p:spTree>
    <p:extLst>
      <p:ext uri="{BB962C8B-B14F-4D97-AF65-F5344CB8AC3E}">
        <p14:creationId xmlns:p14="http://schemas.microsoft.com/office/powerpoint/2010/main" val="1734443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F00A1-BC01-4998-93E3-590AB693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Один сотрудник. Один комплект.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3E208-3B92-4C18-AFC5-C435A9BB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Когда клиент прислал документы по запросу,</a:t>
            </a:r>
          </a:p>
          <a:p xmlns:a="http://schemas.openxmlformats.org/drawingml/2006/main">
            <a:pPr>
              <a:def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я хочу увидеть, какие операции подтверждены</a:t>
            </a:r>
          </a:p>
          <a:p xmlns:a="http://schemas.openxmlformats.org/drawingml/2006/main">
            <a:pPr>
              <a:def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 что необходимо уточнить, чтобы продолжить</a:t>
            </a:r>
          </a:p>
          <a:p xmlns:a="http://schemas.openxmlformats.org/drawingml/2006/main">
            <a:pPr>
              <a:def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рассмотрение без повторного просмотра всей папки.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5A909-0994-4E79-B71D-2DA6D44C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ПОЛЬЗОВАТЕЛЬ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59886-2562-4FE4-8F35-754343A9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Исполнитель проверки документов</a:t>
            </a:r>
          </a:p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бизнес-клиента. Менеджер МСБ</a:t>
            </a:r>
          </a:p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может сопровождать уточнение.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B3A6F-CE60-44AE-BFEE-C69FE792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290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ПОЛУЧАТЕЛИ ПОЛЬЗЫ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EC999-A505-4C85-9696-D2F770CA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Клиент получает конкретный список.</a:t>
            </a:r>
          </a:p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Владелец процесса измеряет</a:t>
            </a:r>
          </a:p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время и повторную обработку.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0E49D-56EC-470E-92D9-9F682EA4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Роли и фактическая последовательность работы уточняются по опыту сотрудника.</a:t>
            </a:r>
          </a:p>
        </p:txBody>
      </p:sp>
    </p:spTree>
    <p:extLst>
      <p:ext uri="{BB962C8B-B14F-4D97-AF65-F5344CB8AC3E}">
        <p14:creationId xmlns:p14="http://schemas.microsoft.com/office/powerpoint/2010/main" val="2022522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09D87-4F2E-4E0B-A6FE-7FDF29D6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Основной сценарий уже работает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94713-3AA5-4772-9602-670B724EBB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6ff3f44fe4512"/>
          <a:stretch xmlns:a="http://schemas.openxmlformats.org/drawingml/2006/main"/>
        </p:blipFill>
        <p:spPr>
          <a:xfrm xmlns:a="http://schemas.openxmlformats.org/drawingml/2006/main">
            <a:off x="2703095" y="1485900"/>
            <a:ext cx="6785811" cy="447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F98E1-5930-418E-8D85-8EBF4427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Импорт JSON. Добавление и редактирование TXT в заданном демо-формате.</a:t>
            </a:r>
          </a:p>
        </p:txBody>
      </p:sp>
    </p:spTree>
    <p:extLst>
      <p:ext uri="{BB962C8B-B14F-4D97-AF65-F5344CB8AC3E}">
        <p14:creationId xmlns:p14="http://schemas.microsoft.com/office/powerpoint/2010/main" val="1813361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B1386-51A5-4530-9AE4-D38FC496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Каждое замечание можно проверить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426CF-9EE3-42E6-B918-3C40E0FC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Договор и ИНН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F4A0A-F229-4E32-86DA-895A0D24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Связь документов с нужной</a:t>
            </a:r>
          </a:p>
          <a:p xmlns:a="http://schemas.openxmlformats.org/drawingml/2006/main">
            <a: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группой операций.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AB4F2-5B65-4206-9BDB-E80AD827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Схема расчёта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30964-A532-4067-9359-7334FF47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Авансы и частичные оплаты</a:t>
            </a:r>
          </a:p>
          <a:p xmlns:a="http://schemas.openxmlformats.org/drawingml/2006/main">
            <a: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учитываются по профилю.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D0B14-94DB-43E2-9CC6-AA5F1876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Пробел связан с требованием. Для имеющегося</a:t>
            </a:r>
          </a:p>
          <a:p xmlns:a="http://schemas.openxmlformats.org/drawingml/2006/main">
            <a:pPr>
              <a:defRPr sz="24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документа доступна исходная строка.</a:t>
            </a:r>
          </a:p>
          <a:p xmlns:a="http://schemas.openxmlformats.org/drawingml/2006/main">
            <a:pPr>
              <a:defRPr sz="24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Сотрудник проверяет проект уточнения.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0D7CE-9C73-46DF-BBC7-122F2029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Полнота по профилю не подтверждает подлинность документов или законность 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1712051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116D9-8F94-46FC-8089-222CE47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Аналоги уже умеют сверять комплекты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CAF80-C088-4EA8-A547-FF69A1FD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СУЩЕСТВУЮЩИЕ ВОЗМОЖНОСТИ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D25BB-EFB5-4721-B853-66352BDB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1С: сверка документов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 переход к источнику.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Directum: распознавание,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комплекты и их проверка.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FD684-1204-46D2-8E07-10950066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478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ПРОВЕРЯЕМОЕ ОТЛИЧИЕ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907E0-E6C2-4375-8744-137DF35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Контекст банковского запроса,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связь с группой операций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 проект адресного уточнения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в одном рабочем сценарии.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6EFC6-EA02-4B6F-8063-856398BB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Сравним с текущим процессом и настройками банка.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Если доработка существующей системы выгоднее, выберем её.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AAB5A-D84B-43BC-8FFC-A482819C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УТП является гипотезой. Отсутствие аналогов не заявляется.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381865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B6278-FA63-498D-9B06-A7F432B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Технические результаты воспроизводятся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D6D98-BF9F-475F-9AD8-624CF6C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630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200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CC56C-CF07-4F41-B4AC-80B6216E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синтетических комплектов</a:t>
            </a:r>
          </a:p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10 типов учебных сценариев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5E9D4-1235-41A8-9627-280B7210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630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F536-F5E7-44FA-8083-F225BE60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автоматизированных тестов</a:t>
            </a:r>
          </a:p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правил и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7724F-FB22-4311-8133-2D6D1C6C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200 из 200 совпадений с заданными кодами замечаний.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60 полных и 140 неполных комплектов.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В этом наборе ложной полноты не обнаружено.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AB0B1-C618-4850-AA0F-2BB938C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Узкий профиль и заданный формат. Качество на банковских документах ещё не оценено.</a:t>
            </a:r>
          </a:p>
        </p:txBody>
      </p:sp>
    </p:spTree>
    <p:extLst>
      <p:ext uri="{BB962C8B-B14F-4D97-AF65-F5344CB8AC3E}">
        <p14:creationId xmlns:p14="http://schemas.microsoft.com/office/powerpoint/2010/main" val="1820060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8A31F-2D47-4D62-8BAE-727484D6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Метрики связывают удобство с качеством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4FDF9-6843-40F2-A2FC-32BDAA21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8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−25%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C569B-7E01-4432-AFD3-7F85C01B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медианное активное время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разбора подходящего кейса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8F130-B0EE-4471-B8F1-0B1F8A3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8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−20%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BD395-CE64-44B1-B31E-2E4E7542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доля повторных запросов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из-за неполноты комплекта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C788D-6755-4266-BBF1-31D8D60C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Условия: качество не ухудшается, критические пропуски</a:t>
            </a:r>
          </a:p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 инциденты доступа останавливают проверку.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9619D-4804-4914-B44D-22078A81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Цели пилота. Для денежной модели используется средняя экономия времени, а не изменение медианы.</a:t>
            </a:r>
          </a:p>
        </p:txBody>
      </p:sp>
    </p:spTree>
    <p:extLst>
      <p:ext uri="{BB962C8B-B14F-4D97-AF65-F5344CB8AC3E}">
        <p14:creationId xmlns:p14="http://schemas.microsoft.com/office/powerpoint/2010/main" val="931721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5146C-7D4A-4392-B9A1-D2E91170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Охват считаем по процессу банка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6D6F7-D5B8-46DD-A40D-BA062B5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1 банк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F7E41-2C47-48BD-BC95-10226581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1 профиль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3AD1B-04D9-441D-B7B9-CC4840C4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10–20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C06D8-BCEC-4425-984A-3EA17BDD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Предлагаемый первый контур: сотрудники одного процесса.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04B0A-B43B-466C-903B-AE7D0391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Обрабатываемые кейсы за год: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635DE-303F-4973-A672-861044B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Все обращения × применимость × использование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7D390-8A83-4659-8773-14616892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Нужны агрегаты владельца процесса. Кейсы, документы, клиенты и сотрудники считаются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713768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0B559-3FA2-4557-8BB4-3D3A0347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Экономика при общих допущениях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F5474-69A6-4986-9DC1-B766DCB5AD59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3571875"/>
                <a:gridCol w="3209925"/>
              </a:tblGrid>
              <a:tr h="642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52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Кейсов/год</a:t>
                      </a:r>
                    </a:p>
                  </a:txBody>
                  <a:tcPr marL="133350" marR="133350" marT="142875" marB="142875">
                    <a:solidFill>
                      <a:srgbClr val="E7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52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Часы/год</a:t>
                      </a:r>
                    </a:p>
                  </a:txBody>
                  <a:tcPr marL="133350" marR="133350" marT="142875" marB="142875">
                    <a:solidFill>
                      <a:srgbClr val="E7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52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Чистый эффект/год</a:t>
                      </a:r>
                    </a:p>
                  </a:txBody>
                  <a:tcPr marL="133350" marR="133350" marT="142875" marB="142875">
                    <a:solidFill>
                      <a:srgbClr val="E7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52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Окупаемость</a:t>
                      </a:r>
                    </a:p>
                  </a:txBody>
                  <a:tcPr marL="133350" marR="133350" marT="142875" marB="142875">
                    <a:solidFill>
                      <a:srgbClr val="E7F0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30 000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1 260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−633 тыс. ₽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</a:t>
                      </a:r>
                    </a:p>
                  </a:txBody>
                  <a:tcPr marL="133350" marR="133350" marT="142875" marB="142875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60 000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2 520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−66 тыс. ₽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</a:t>
                      </a:r>
                    </a:p>
                  </a:txBody>
                  <a:tcPr marL="133350" marR="133350" marT="142875" marB="142875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120 000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5 040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+1,068 млн ₽</a:t>
                      </a:r>
                    </a:p>
                  </a:txBody>
                  <a:tcPr marL="133350" marR="133350" marT="142875" marB="142875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235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≈2,25 года</a:t>
                      </a:r>
                    </a:p>
                  </a:txBody>
                  <a:tcPr marL="133350" marR="133350" marT="142875" marB="142875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45CBB-0C3D-4807-A22C-7FF2DC25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Порог покрытия только эксплуатации: около 63 493 кейсов/год.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Перед внедрением подтверждаем поток и реализуемую экономию.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0EEC7-244A-4AED-95D2-CFEAB809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Применимость 60%, использование 70%, 6 мин/кейс, 900 ₽/ч, реализация 50%. Запуск 2,4 млн ₽, OPEX 1,2 млн ₽/год.</a:t>
            </a:r>
          </a:p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Без разгона и дисконтирования. Допущения, не данные банка.</a:t>
            </a:r>
          </a:p>
        </p:txBody>
      </p:sp>
    </p:spTree>
    <p:extLst>
      <p:ext uri="{BB962C8B-B14F-4D97-AF65-F5344CB8AC3E}">
        <p14:creationId xmlns:p14="http://schemas.microsoft.com/office/powerpoint/2010/main" val="1956378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DEF60-783D-49AE-B290-4E6D74AF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Путь к пилоту ограничен одним профилем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2D3DF-ECC2-484D-88E8-79A6F00F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ДО 1 НОЯБРЯ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0FCA9-3344-47CD-A458-3D84677F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Интервью и уточнение сценария.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Источники, метрики и проверки.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Версия для первого спринта.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DA8A7-30CA-4F7F-B9A2-C36A7B0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СЛЕДУЮЩИЕ СПРИНТЫ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D084F-EBAC-4649-AA26-915AAC94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OCR/текстовый вход, профили,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доступы и аудит.</a:t>
            </a:r>
          </a:p>
          <a:p xmlns:a="http://schemas.openxmlformats.org/drawingml/2006/main">
            <a:pPr>
              <a:def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Дизайн пилота и масштабирование.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0C07D-9432-4418-990A-451114B0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Размещение внутри банковского контура.</a:t>
            </a:r>
          </a:p>
          <a:p xmlns:a="http://schemas.openxmlformats.org/drawingml/2006/main">
            <a: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Интеграция с CRM/ДБО через согласованные адаптеры.</a:t>
            </a:r>
          </a:p>
          <a:p xmlns:a="http://schemas.openxmlformats.org/drawingml/2006/main">
            <a:pPr>
              <a:def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Решения и отправку клиенту выполняет сотрудник.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49BCA-8FD4-4008-AFAE-A8C15710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Согласуются владелец, качество, экономика и критерии остановки. Пилот пока не согласован.</a:t>
            </a:r>
          </a:p>
        </p:txBody>
      </p:sp>
    </p:spTree>
    <p:extLst>
      <p:ext uri="{BB962C8B-B14F-4D97-AF65-F5344CB8AC3E}">
        <p14:creationId xmlns:p14="http://schemas.microsoft.com/office/powerpoint/2010/main" val="4307298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6A9F2-C4BF-4A2E-9FE2-F0E0E73D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Команда: пять участников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60917-0D4A-47C4-91BE-8E8C0231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Тимофей Франчук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0F796-0DD0-4DF6-A03C-D6B4BF02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716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Продукт, координация и питч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AC5CB-4E8A-4D60-98F6-4957C17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Антон Никитин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045E6-DED5-418A-88D1-230242E5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Backend и правила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29B7-A16E-43C2-927A-2E4739AA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Сергей Криницкий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D71D4-B612-4386-9626-FCB774B2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Frontend и motion-дизайн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E312C-25F0-4C24-A7EC-AD536CD2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Никита Романов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1DA32-1298-40C0-8C39-C13D72C4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Исследование, охват и метрики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BA6F1-0487-4ADB-B380-6DAD7F6A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52D9"/>
                </a:solidFill>
                <a:latin typeface="Helvetica Neue"/>
                <a:ea typeface="Helvetica Neue"/>
                <a:cs typeface="Helvetica Neue"/>
              </a:rPr>
              <a:t>Михаил Мишуков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73C14-8326-4667-B6F4-C4F3A455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55F"/>
                </a:solidFill>
                <a:latin typeface="Helvetica Neue"/>
                <a:ea typeface="Helvetica Neue"/>
                <a:cs typeface="Helvetica Neue"/>
              </a:rPr>
              <a:t>Интеграции и тестирование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36F02-315E-4614-8B49-30E01657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791"/>
                </a:solidFill>
                <a:latin typeface="Helvetica Neue"/>
                <a:ea typeface="Helvetica Neue"/>
                <a:cs typeface="Helvetica Neue"/>
              </a:rPr>
              <a:t>План ответственности команды. Банковская методология и требования ИБ согласуются с владельцем процесса.</a:t>
            </a:r>
          </a:p>
        </p:txBody>
      </p:sp>
    </p:spTree>
    <p:extLst>
      <p:ext uri="{BB962C8B-B14F-4D97-AF65-F5344CB8AC3E}">
        <p14:creationId xmlns:p14="http://schemas.microsoft.com/office/powerpoint/2010/main" val="1589412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2026-10-17T13:22:29.9070000Z</dcterms:created>
  <dcterms:modified xsi:type="dcterms:W3CDTF">2026-10-17T13:22:29.9070000Z</dcterms:modified>
</coreProperties>
</file>