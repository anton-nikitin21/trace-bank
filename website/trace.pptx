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a604a4935a4d39" /><Relationship Type="http://schemas.openxmlformats.org/officeDocument/2006/relationships/extended-properties" Target="/docProps/app.xml" Id="Rf07be8add70a47de" /><Relationship Type="http://schemas.openxmlformats.org/officeDocument/2006/relationships/officeDocument" Target="/ppt/presentation.xml" Id="Ra71d8550f24041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6ea4626ce04472"/>
  </p:sldMasterIdLst>
  <p:notesMasterIdLst>
    <p:notesMasterId xmlns:r="http://schemas.openxmlformats.org/officeDocument/2006/relationships" r:id="R29d13ba4e3fd4d71"/>
  </p:notesMasterIdLst>
  <p:sldIdLst>
    <p:sldId xmlns:r="http://schemas.openxmlformats.org/officeDocument/2006/relationships" id="256" r:id="Raf57eb807e4a4ed8"/>
    <p:sldId xmlns:r="http://schemas.openxmlformats.org/officeDocument/2006/relationships" id="257" r:id="R1ea2edfc99324fa9"/>
    <p:sldId xmlns:r="http://schemas.openxmlformats.org/officeDocument/2006/relationships" id="258" r:id="R8b0e1c3b07e940f4"/>
    <p:sldId xmlns:r="http://schemas.openxmlformats.org/officeDocument/2006/relationships" id="259" r:id="R2a366711f9674473"/>
    <p:sldId xmlns:r="http://schemas.openxmlformats.org/officeDocument/2006/relationships" id="260" r:id="R3c49d3084dd14eca"/>
    <p:sldId xmlns:r="http://schemas.openxmlformats.org/officeDocument/2006/relationships" id="261" r:id="R0a74886f6c4f4c5b"/>
    <p:sldId xmlns:r="http://schemas.openxmlformats.org/officeDocument/2006/relationships" id="262" r:id="R9fd86802c5cf464e"/>
    <p:sldId xmlns:r="http://schemas.openxmlformats.org/officeDocument/2006/relationships" id="263" r:id="R948cdc7182034f89"/>
    <p:sldId xmlns:r="http://schemas.openxmlformats.org/officeDocument/2006/relationships" id="264" r:id="R2980c86afe604639"/>
    <p:sldId xmlns:r="http://schemas.openxmlformats.org/officeDocument/2006/relationships" id="265" r:id="Rdbab1be9d96b4f2f"/>
    <p:sldId xmlns:r="http://schemas.openxmlformats.org/officeDocument/2006/relationships" id="266" r:id="R5173a602adcf402c"/>
    <p:sldId xmlns:r="http://schemas.openxmlformats.org/officeDocument/2006/relationships" id="267" r:id="R15db8abc7d5e44d5"/>
    <p:sldId xmlns:r="http://schemas.openxmlformats.org/officeDocument/2006/relationships" id="268" r:id="Rd847b0539d304140"/>
    <p:sldId xmlns:r="http://schemas.openxmlformats.org/officeDocument/2006/relationships" id="269" r:id="R0d17acbac29a42bb"/>
    <p:sldId xmlns:r="http://schemas.openxmlformats.org/officeDocument/2006/relationships" id="270" r:id="R6e8b2ccd8ea342ef"/>
    <p:sldId xmlns:r="http://schemas.openxmlformats.org/officeDocument/2006/relationships" id="271" r:id="R3ec1df5588d34739"/>
    <p:sldId xmlns:r="http://schemas.openxmlformats.org/officeDocument/2006/relationships" id="272" r:id="Rbc07016cc7b84368"/>
    <p:sldId xmlns:r="http://schemas.openxmlformats.org/officeDocument/2006/relationships" id="273" r:id="R5c3cf32854a34ea0"/>
    <p:sldId xmlns:r="http://schemas.openxmlformats.org/officeDocument/2006/relationships" id="274" r:id="R4b7ad1e7b6b74841"/>
    <p:sldId xmlns:r="http://schemas.openxmlformats.org/officeDocument/2006/relationships" id="275" r:id="R3133a5ebf30d4aad"/>
    <p:sldId xmlns:r="http://schemas.openxmlformats.org/officeDocument/2006/relationships" id="276" r:id="R3a777366e7cb49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67498e1b7e440f" /><Relationship Type="http://schemas.openxmlformats.org/officeDocument/2006/relationships/slideMaster" Target="/ppt/slideMasters/slideMaster1.xml" Id="Reb6ea4626ce04472" /><Relationship Type="http://schemas.openxmlformats.org/officeDocument/2006/relationships/notesMaster" Target="/ppt/notesMasters/notesMaster1.xml" Id="R29d13ba4e3fd4d71" /><Relationship Type="http://schemas.openxmlformats.org/officeDocument/2006/relationships/presProps" Target="/ppt/presProps.xml" Id="R765612470abf449f" /><Relationship Type="http://schemas.openxmlformats.org/officeDocument/2006/relationships/tableStyles" Target="/ppt/tableStyles.xml" Id="Rb4c5f9082b0c4e61" /><Relationship Type="http://schemas.openxmlformats.org/officeDocument/2006/relationships/slide" Target="/ppt/slides/slide1.xml" Id="Raf57eb807e4a4ed8" /><Relationship Type="http://schemas.openxmlformats.org/officeDocument/2006/relationships/slide" Target="/ppt/slides/slide2.xml" Id="R1ea2edfc99324fa9" /><Relationship Type="http://schemas.openxmlformats.org/officeDocument/2006/relationships/slide" Target="/ppt/slides/slide3.xml" Id="R8b0e1c3b07e940f4" /><Relationship Type="http://schemas.openxmlformats.org/officeDocument/2006/relationships/slide" Target="/ppt/slides/slide4.xml" Id="R2a366711f9674473" /><Relationship Type="http://schemas.openxmlformats.org/officeDocument/2006/relationships/slide" Target="/ppt/slides/slide5.xml" Id="R3c49d3084dd14eca" /><Relationship Type="http://schemas.openxmlformats.org/officeDocument/2006/relationships/slide" Target="/ppt/slides/slide6.xml" Id="R0a74886f6c4f4c5b" /><Relationship Type="http://schemas.openxmlformats.org/officeDocument/2006/relationships/slide" Target="/ppt/slides/slide7.xml" Id="R9fd86802c5cf464e" /><Relationship Type="http://schemas.openxmlformats.org/officeDocument/2006/relationships/slide" Target="/ppt/slides/slide8.xml" Id="R948cdc7182034f89" /><Relationship Type="http://schemas.openxmlformats.org/officeDocument/2006/relationships/slide" Target="/ppt/slides/slide9.xml" Id="R2980c86afe604639" /><Relationship Type="http://schemas.openxmlformats.org/officeDocument/2006/relationships/slide" Target="/ppt/slides/slide10.xml" Id="Rdbab1be9d96b4f2f" /><Relationship Type="http://schemas.openxmlformats.org/officeDocument/2006/relationships/slide" Target="/ppt/slides/slide11.xml" Id="R5173a602adcf402c" /><Relationship Type="http://schemas.openxmlformats.org/officeDocument/2006/relationships/slide" Target="/ppt/slides/slide12.xml" Id="R15db8abc7d5e44d5" /><Relationship Type="http://schemas.openxmlformats.org/officeDocument/2006/relationships/slide" Target="/ppt/slides/slide13.xml" Id="Rd847b0539d304140" /><Relationship Type="http://schemas.openxmlformats.org/officeDocument/2006/relationships/slide" Target="/ppt/slides/slide14.xml" Id="R0d17acbac29a42bb" /><Relationship Type="http://schemas.openxmlformats.org/officeDocument/2006/relationships/slide" Target="/ppt/slides/slide15.xml" Id="R6e8b2ccd8ea342ef" /><Relationship Type="http://schemas.openxmlformats.org/officeDocument/2006/relationships/slide" Target="/ppt/slides/slide16.xml" Id="R3ec1df5588d34739" /><Relationship Type="http://schemas.openxmlformats.org/officeDocument/2006/relationships/slide" Target="/ppt/slides/slide17.xml" Id="Rbc07016cc7b84368" /><Relationship Type="http://schemas.openxmlformats.org/officeDocument/2006/relationships/slide" Target="/ppt/slides/slide18.xml" Id="R5c3cf32854a34ea0" /><Relationship Type="http://schemas.openxmlformats.org/officeDocument/2006/relationships/slide" Target="/ppt/slides/slide19.xml" Id="R4b7ad1e7b6b74841" /><Relationship Type="http://schemas.openxmlformats.org/officeDocument/2006/relationships/slide" Target="/ppt/slides/slide20.xml" Id="R3133a5ebf30d4aad" /><Relationship Type="http://schemas.openxmlformats.org/officeDocument/2006/relationships/slide" Target="/ppt/slides/slide21.xml" Id="R3a777366e7cb49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502932919040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473bfaa16b4e42" /><Relationship Type="http://schemas.openxmlformats.org/officeDocument/2006/relationships/notesMaster" Target="/ppt/notesMasters/notesMaster1.xml" Id="Ra14ade3f1a5c40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925f52218f4424" /><Relationship Type="http://schemas.openxmlformats.org/officeDocument/2006/relationships/notesMaster" Target="/ppt/notesMasters/notesMaster1.xml" Id="Re19010f6808148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e0f7a1240046f6" /><Relationship Type="http://schemas.openxmlformats.org/officeDocument/2006/relationships/notesMaster" Target="/ppt/notesMasters/notesMaster1.xml" Id="Rbfef24eb527444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3c4cf0863246b6" /><Relationship Type="http://schemas.openxmlformats.org/officeDocument/2006/relationships/notesMaster" Target="/ppt/notesMasters/notesMaster1.xml" Id="Rf5fee844f65244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a300a0c2894946" /><Relationship Type="http://schemas.openxmlformats.org/officeDocument/2006/relationships/notesMaster" Target="/ppt/notesMasters/notesMaster1.xml" Id="Radb66a0244be49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f028d0d1194d23" /><Relationship Type="http://schemas.openxmlformats.org/officeDocument/2006/relationships/notesMaster" Target="/ppt/notesMasters/notesMaster1.xml" Id="Rd6dd1a5a643e45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87268f0c46493b" /><Relationship Type="http://schemas.openxmlformats.org/officeDocument/2006/relationships/notesMaster" Target="/ppt/notesMasters/notesMaster1.xml" Id="R22830ce366ad4b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3cdc6af7f44437" /><Relationship Type="http://schemas.openxmlformats.org/officeDocument/2006/relationships/notesMaster" Target="/ppt/notesMasters/notesMaster1.xml" Id="R0d91f68d64b447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781e588f194af2" /><Relationship Type="http://schemas.openxmlformats.org/officeDocument/2006/relationships/notesMaster" Target="/ppt/notesMasters/notesMaster1.xml" Id="R7450d157008049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6bea0d2bd94e82" /><Relationship Type="http://schemas.openxmlformats.org/officeDocument/2006/relationships/notesMaster" Target="/ppt/notesMasters/notesMaster1.xml" Id="R43eb642f4c534e4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3c92bdb33a4ee2" /><Relationship Type="http://schemas.openxmlformats.org/officeDocument/2006/relationships/notesMaster" Target="/ppt/notesMasters/notesMaster1.xml" Id="Rc1dea8e5e2cd42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d224aae9e54a75" /><Relationship Type="http://schemas.openxmlformats.org/officeDocument/2006/relationships/notesMaster" Target="/ppt/notesMasters/notesMaster1.xml" Id="Rf54849274786476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d75dae60d244c76" /><Relationship Type="http://schemas.openxmlformats.org/officeDocument/2006/relationships/notesMaster" Target="/ppt/notesMasters/notesMaster1.xml" Id="Rcce4764998cd4a8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6c253cbf7a49e0" /><Relationship Type="http://schemas.openxmlformats.org/officeDocument/2006/relationships/notesMaster" Target="/ppt/notesMasters/notesMaster1.xml" Id="Rffb8b4356f2d4f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33ef581e64c4752" /><Relationship Type="http://schemas.openxmlformats.org/officeDocument/2006/relationships/notesMaster" Target="/ppt/notesMasters/notesMaster1.xml" Id="R62e8927c79d24c9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792af6c5678496a" /><Relationship Type="http://schemas.openxmlformats.org/officeDocument/2006/relationships/notesMaster" Target="/ppt/notesMasters/notesMaster1.xml" Id="R6b467c7a45ec41a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6e71d1adc2f4800" /><Relationship Type="http://schemas.openxmlformats.org/officeDocument/2006/relationships/notesMaster" Target="/ppt/notesMasters/notesMaster1.xml" Id="R62733364bf5a401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d55a8dff934349" /><Relationship Type="http://schemas.openxmlformats.org/officeDocument/2006/relationships/notesMaster" Target="/ppt/notesMasters/notesMaster1.xml" Id="R68b283cd055a465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d622544b3844e2b" /><Relationship Type="http://schemas.openxmlformats.org/officeDocument/2006/relationships/notesMaster" Target="/ppt/notesMasters/notesMaster1.xml" Id="R0c0418711ea54e7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38244872ed14ac8" /><Relationship Type="http://schemas.openxmlformats.org/officeDocument/2006/relationships/notesMaster" Target="/ppt/notesMasters/notesMaster1.xml" Id="Rb6ff316a73dd46b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c29a4db8f9e4e02" /><Relationship Type="http://schemas.openxmlformats.org/officeDocument/2006/relationships/notesMaster" Target="/ppt/notesMasters/notesMaster1.xml" Id="Rb285db1d043744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 RUT MIIT 21. Обновлённый комплект на 27 октября 2026 года. Логотипы и обложка сохранены из предоставленного шаблона. 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S3 https://v8.1c.ru/its/services/1c-sverka/</a:t>
            </a:r>
          </a:p>
          <a:p xmlns:a="http://schemas.openxmlformats.org/drawingml/2006/main">
            <a:r>
              <a:t>S4 https://club.directum.ru/post/345788 (источник 2021 года)</a:t>
            </a:r>
          </a:p>
          <a:p xmlns:a="http://schemas.openxmlformats.org/drawingml/2006/main">
            <a:r>
              <a:t>S5 https://smartengines.ru/news/bezoblachnaya-pogoda-na-sklade-smart-document-engine-3-6-raspoznaet-pervichnye-dokumenty-bez-interneta-i-infrastrukturnoj-zavisimosti/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  <a:p xmlns:a="http://schemas.openxmlformats.org/drawingml/2006/main">
            <a:r>
              <a:t>Формулы сверены с приложенным XLSX. Все входы сценарные.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  <a:p xmlns:a="http://schemas.openxmlformats.org/drawingml/2006/main">
            <a:r>
              <a:t>Все допущения и расчёты: Trace-financial-model.xlsx.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  <a:p xmlns:a="http://schemas.openxmlformats.org/drawingml/2006/main">
            <a:r>
              <a:t>Состав подтверждён пользователем 27.10.2026. Роли не переутверждены.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Бриф: https://fintechacademy.ru/task-1</a:t>
            </a:r>
          </a:p>
          <a:p xmlns:a="http://schemas.openxmlformats.org/drawingml/2006/main">
            <a:r>
              <a:t>Код: https://github.com/anton-nikitin21/trace-bank/tree/6ca858670551897aa1de8b88e1e5f22f054526f3</a:t>
            </a:r>
          </a:p>
          <a:p xmlns:a="http://schemas.openxmlformats.org/drawingml/2006/main">
            <a:r>
              <a:t>Сайт: https://anton-nikitin21.github.io/trace-bank/</a:t>
            </a:r>
          </a:p>
          <a:p xmlns:a="http://schemas.openxmlformats.org/drawingml/2006/main">
            <a:r>
              <a:t>Проверено 27.10.2026.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1f11e538649b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d42da8dca5464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38a7166da14c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48b80aa8384b5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ec24906ba24ca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b1e626dcc84b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64EF18-1F28-494D-93D0-77538ED172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57C2F8D-6FFB-4062-97A1-0DFDB3495F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780C5E1-7DA1-4748-A975-41A6ADE594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0C611A-CFB8-4F6E-BF41-03C4F8B124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E891F26-1CB9-4D94-8563-93DFD8CCFB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4FE70D-A078-494E-A80E-554486CB3F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BA26FB-11FA-456A-994A-9330FFC864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947EB28-1BC5-427E-A793-18AA29AF9D6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85E0A5-60FE-4335-AFC2-98CB359F6F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66B7B2-1710-4387-ABA9-EE6AA0539B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fcf32b237b41e1" /><Relationship Type="http://schemas.openxmlformats.org/officeDocument/2006/relationships/slideLayout" Target="/ppt/slideLayouts/slideLayout1.xml" Id="R0993f7ddf0654f6c" /><Relationship Type="http://schemas.openxmlformats.org/officeDocument/2006/relationships/slideLayout" Target="/ppt/slideLayouts/slideLayout2.xml" Id="R8cd39bec73be4683" /><Relationship Type="http://schemas.openxmlformats.org/officeDocument/2006/relationships/slideLayout" Target="/ppt/slideLayouts/slideLayout3.xml" Id="Rd675e1d8e4a74396" /><Relationship Type="http://schemas.openxmlformats.org/officeDocument/2006/relationships/slideLayout" Target="/ppt/slideLayouts/slideLayout4.xml" Id="R747490518e014fd7" /><Relationship Type="http://schemas.openxmlformats.org/officeDocument/2006/relationships/slideLayout" Target="/ppt/slideLayouts/slideLayout5.xml" Id="R63bd80d9491b46b5" /><Relationship Type="http://schemas.openxmlformats.org/officeDocument/2006/relationships/slideLayout" Target="/ppt/slideLayouts/slideLayout6.xml" Id="R794214c1093042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93f7ddf0654f6c"/>
    <p:sldLayoutId xmlns:r="http://schemas.openxmlformats.org/officeDocument/2006/relationships" id="2147483650" r:id="R8cd39bec73be4683"/>
    <p:sldLayoutId xmlns:r="http://schemas.openxmlformats.org/officeDocument/2006/relationships" id="2147483651" r:id="Rd675e1d8e4a74396"/>
    <p:sldLayoutId xmlns:r="http://schemas.openxmlformats.org/officeDocument/2006/relationships" id="2147483652" r:id="R747490518e014fd7"/>
    <p:sldLayoutId xmlns:r="http://schemas.openxmlformats.org/officeDocument/2006/relationships" id="2147483653" r:id="R63bd80d9491b46b5"/>
    <p:sldLayoutId xmlns:r="http://schemas.openxmlformats.org/officeDocument/2006/relationships" id="2147483654" r:id="R794214c1093042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a428ab5abe4c07" /><Relationship Type="http://schemas.openxmlformats.org/officeDocument/2006/relationships/image" Target="/ppt/media/image.png" Id="Re6ad74f7e0a64d60" /><Relationship Type="http://schemas.openxmlformats.org/officeDocument/2006/relationships/notesSlide" Target="/ppt/notesSlides/notesSlide1.xml" Id="R1483d5b4eb1746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dbf73df81f4fdb" /><Relationship Type="http://schemas.openxmlformats.org/officeDocument/2006/relationships/image" Target="/ppt/media/image.jpeg" Id="R6b91cf9f5dd74ff6" /><Relationship Type="http://schemas.openxmlformats.org/officeDocument/2006/relationships/notesSlide" Target="/ppt/notesSlides/notesSlide2.xml" Id="Rfa97a6349b0d45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530ce884e04e15" /><Relationship Type="http://schemas.openxmlformats.org/officeDocument/2006/relationships/notesSlide" Target="/ppt/notesSlides/notesSlide3.xml" Id="Rb955c5e54de74f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f08c7b542b4f7b" /><Relationship Type="http://schemas.openxmlformats.org/officeDocument/2006/relationships/notesSlide" Target="/ppt/notesSlides/notesSlide4.xml" Id="R50ef27892e8e4d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9b51f5f6ef4400" /><Relationship Type="http://schemas.openxmlformats.org/officeDocument/2006/relationships/notesSlide" Target="/ppt/notesSlides/notesSlide5.xml" Id="Rdea849d63be64b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166f2617bc4dc6" /><Relationship Type="http://schemas.openxmlformats.org/officeDocument/2006/relationships/notesSlide" Target="/ppt/notesSlides/notesSlide6.xml" Id="R86a414f2b01444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4467816f0d490d" /><Relationship Type="http://schemas.openxmlformats.org/officeDocument/2006/relationships/notesSlide" Target="/ppt/notesSlides/notesSlide7.xml" Id="R75d0c01a38e942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fcb7ecf5ce4440" /><Relationship Type="http://schemas.openxmlformats.org/officeDocument/2006/relationships/notesSlide" Target="/ppt/notesSlides/notesSlide8.xml" Id="Rc9066fcd7b0045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6414a25a52405e" /><Relationship Type="http://schemas.openxmlformats.org/officeDocument/2006/relationships/image" Target="/ppt/media/image2.jpeg" Id="Rb4810644c6144e9f" /><Relationship Type="http://schemas.openxmlformats.org/officeDocument/2006/relationships/notesSlide" Target="/ppt/notesSlides/notesSlide9.xml" Id="Rebaeb1d3ecfd4d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22e4b9d2fb42d0" /><Relationship Type="http://schemas.openxmlformats.org/officeDocument/2006/relationships/image" Target="/ppt/media/image3.jpeg" Id="R6d318599863145c5" /><Relationship Type="http://schemas.openxmlformats.org/officeDocument/2006/relationships/notesSlide" Target="/ppt/notesSlides/notesSlide10.xml" Id="R58dfc6d79cd144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268450092d4d15" /><Relationship Type="http://schemas.openxmlformats.org/officeDocument/2006/relationships/image" Target="/ppt/media/image4.jpeg" Id="R75be654a8ad245a3" /><Relationship Type="http://schemas.openxmlformats.org/officeDocument/2006/relationships/notesSlide" Target="/ppt/notesSlides/notesSlide11.xml" Id="R8442437c0b9446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821b1e248a441c" /><Relationship Type="http://schemas.openxmlformats.org/officeDocument/2006/relationships/notesSlide" Target="/ppt/notesSlides/notesSlide12.xml" Id="R159e0eae176e401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1a089180584775" /><Relationship Type="http://schemas.openxmlformats.org/officeDocument/2006/relationships/notesSlide" Target="/ppt/notesSlides/notesSlide13.xml" Id="R297fa0093aea4c4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a2563103df460e" /><Relationship Type="http://schemas.openxmlformats.org/officeDocument/2006/relationships/notesSlide" Target="/ppt/notesSlides/notesSlide14.xml" Id="Rbfe3b694ac4a45d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d0b472808b44cc" /><Relationship Type="http://schemas.openxmlformats.org/officeDocument/2006/relationships/notesSlide" Target="/ppt/notesSlides/notesSlide15.xml" Id="R97d6a2370b5e42c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c613fd5b814976" /><Relationship Type="http://schemas.openxmlformats.org/officeDocument/2006/relationships/notesSlide" Target="/ppt/notesSlides/notesSlide16.xml" Id="R002a0e129ab8445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65d836f3324427" /><Relationship Type="http://schemas.openxmlformats.org/officeDocument/2006/relationships/image" Target="/ppt/media/image2.png" Id="Rdadf87e151cb4c03" /><Relationship Type="http://schemas.openxmlformats.org/officeDocument/2006/relationships/notesSlide" Target="/ppt/notesSlides/notesSlide17.xml" Id="R0063a680ba2947c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8640141eb14589" /><Relationship Type="http://schemas.openxmlformats.org/officeDocument/2006/relationships/notesSlide" Target="/ppt/notesSlides/notesSlide18.xml" Id="R0998352814864a6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49bff56497438a" /><Relationship Type="http://schemas.openxmlformats.org/officeDocument/2006/relationships/image" Target="/ppt/media/image5.jpeg" Id="R8318d6a0e8734eb2" /><Relationship Type="http://schemas.openxmlformats.org/officeDocument/2006/relationships/notesSlide" Target="/ppt/notesSlides/notesSlide19.xml" Id="R59db8a8ac6c14ed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a728a7f04d4a41" /><Relationship Type="http://schemas.openxmlformats.org/officeDocument/2006/relationships/notesSlide" Target="/ppt/notesSlides/notesSlide20.xml" Id="R6c66a8407c664bd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29321f6e8c4264" /><Relationship Type="http://schemas.openxmlformats.org/officeDocument/2006/relationships/hyperlink" Target="https://anton-nikitin21.github.io/trace-bank/" TargetMode="External" Id="R90f20c6f15804958" /><Relationship Type="http://schemas.openxmlformats.org/officeDocument/2006/relationships/hyperlink" Target="https://anton-nikitin21.github.io/trace-bank/workspace.html" TargetMode="External" Id="R585f36b8ed564cb5" /><Relationship Type="http://schemas.openxmlformats.org/officeDocument/2006/relationships/hyperlink" Target="https://github.com/anton-nikitin21/trace-bank" TargetMode="External" Id="Rfd0e90d020784679" /><Relationship Type="http://schemas.openxmlformats.org/officeDocument/2006/relationships/notesSlide" Target="/ppt/notesSlides/notesSlide21.xml" Id="R94b32a0525ea429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992ED-E275-4821-A643-4689EAA3AC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d74f7e0a64d6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292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088122-610C-44BB-8E2B-D5816BCE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Направление 3. Эффективность банка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AA877-B46F-4130-B202-EB1C56C3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7C41E-61EB-4F11-8C99-C241E871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E3A48-547A-4123-BC14-C5558892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5429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Сотрудник проверяет документы</a:t>
            </a:r>
          </a:p>
          <a:p xmlns:a="http://schemas.openxmlformats.org/drawingml/2006/main">
            <a: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по операциям бизнес-клиента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10834-9023-41D8-B11E-AE40AA3B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523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помогает увидеть недостающее</a:t>
            </a:r>
          </a:p>
          <a:p xmlns:a="http://schemas.openxmlformats.org/drawingml/2006/main">
            <a: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основание и подготовить уточнение.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70DA5-41EF-4E96-B3E5-5D1DA33835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91cf9f5dd74ff6"/>
          <a:stretch xmlns:a="http://schemas.openxmlformats.org/drawingml/2006/main"/>
        </p:blipFill>
        <p:spPr>
          <a:xfrm xmlns:a="http://schemas.openxmlformats.org/drawingml/2006/main">
            <a:off x="6429375" y="1984494"/>
            <a:ext cx="5048250" cy="284138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B82A4-DC7F-4ED4-B045-19E1B8E4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ВТБ — постановщик конкурсной задачи. Пилот с банком пока не согласован.</a:t>
            </a:r>
          </a:p>
        </p:txBody>
      </p:sp>
    </p:spTree>
    <p:extLst>
      <p:ext uri="{BB962C8B-B14F-4D97-AF65-F5344CB8AC3E}">
        <p14:creationId xmlns:p14="http://schemas.microsoft.com/office/powerpoint/2010/main" val="20395512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253D0-8B22-4B16-85E9-3C822F72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Основание платежа приходится искать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CA3C7-D294-4113-955B-EEBBCA12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F34B-B575-4C05-B91E-2CEAA6DA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959BFF-A720-4A8A-8872-19D48431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Операция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8FA95-3DEA-4716-BA48-E259FE08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Сумма, договор и контрагент — в одном источнике.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5F2C3-B2F0-47AF-A7F6-7BF00110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Документы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3B8C7-791E-4029-96FB-F0EEDA2A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95625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Договор и первичка — в разных файлах.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76880-DCAF-4EA6-BF40-1DE9EFFD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Уточнение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69072-23A6-480C-9AFD-F97D9996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38625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Нужно объяснить, чего не хватает и почему.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B05F53-D312-4B87-B216-D96700DA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Гипотеза: связанный просмотр сокращает ручной разбор. Масштаб проблемы ещё не измерен.</a:t>
            </a:r>
          </a:p>
        </p:txBody>
      </p:sp>
    </p:spTree>
    <p:extLst>
      <p:ext uri="{BB962C8B-B14F-4D97-AF65-F5344CB8AC3E}">
        <p14:creationId xmlns:p14="http://schemas.microsoft.com/office/powerpoint/2010/main" val="16990317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154BA-173D-47EA-BD02-F29A0D59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Первое интервью — 5 ноября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29CA2E-EF70-4EF9-8D11-718C1650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632A3-E7DE-4649-B4E1-15D87E26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36C1A7-E042-4BFA-A157-DEFC57B7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10382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Подготовлены гайд</a:t>
            </a:r>
          </a:p>
          <a:p xmlns:a="http://schemas.openxmlformats.org/drawingml/2006/main">
            <a:pPr>
              <a:defRPr sz="307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и журнал исследования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7E58DE-0CDC-4F52-B0E7-9201FA09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Разбираем последний реальный случай до показа продукта.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61766-7C3E-47EF-A9C5-B04F1A94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Выясняем шаги, действующие инструменты и причины возвратов.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35700-2D17-4C4A-A721-A521EA60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Записываем подтверждения; неизвестное время оставляем пустым.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DD68FE-7822-40A8-A408-FF4DD1E8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На 27 октября ответов нет. Интервью запланировано после дедлайна первого спринта.</a:t>
            </a:r>
          </a:p>
        </p:txBody>
      </p:sp>
    </p:spTree>
    <p:extLst>
      <p:ext uri="{BB962C8B-B14F-4D97-AF65-F5344CB8AC3E}">
        <p14:creationId xmlns:p14="http://schemas.microsoft.com/office/powerpoint/2010/main" val="4762234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6A099-12E6-4AA3-AE7B-8560E0B0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Пользователь и заказчик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CCC47-D9A6-4062-A48B-41F6CAA2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E54F4F-0022-48F5-924A-D70ABDD5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3D7DA-0FD8-482A-9477-1C9CCD2F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Пользователь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5F480-7D04-43D4-9D95-585DCA92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05000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Сотрудник, который лично сопоставляет операции и документы.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F20AF-819B-41F6-AB43-F1BEC168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Владелец бюджета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333DA-8A65-4CA0-A700-A8EBD5D8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43250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Руководитель соответствующего процесса банка.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C31CB-D9AC-4512-91DA-D7E74941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Внедрение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9384E5-6B1A-45B1-9521-4D6A0086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81500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Эксперт правил, ИТ и информационная безопасность.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BBF0C-022E-4C7E-8361-0AD33FD7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Первый контур — один процесс одного банка. Документы клиента не делают его покупателем.</a:t>
            </a:r>
          </a:p>
        </p:txBody>
      </p:sp>
    </p:spTree>
    <p:extLst>
      <p:ext uri="{BB962C8B-B14F-4D97-AF65-F5344CB8AC3E}">
        <p14:creationId xmlns:p14="http://schemas.microsoft.com/office/powerpoint/2010/main" val="8186773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F5BF6-B702-4E9C-BB63-0FE82B04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Рабочий сценарий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45D7F-5E2E-4A19-8EF5-2A900C5F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1C0E3-946F-46E2-AF63-648DE317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36DA3-64BD-47E1-95B8-6AD5A938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Принять комплект и задать платежи для сравнения.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9492C-8A50-4A78-A646-3CB7D774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Проверить предлагаемые реквизиты по исходным документам.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962BC5-FF76-4A3E-B6E9-8DBA4B0C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Разобрать причины замечаний и подготовить запрос клиенту.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907188-32BE-4DFC-B4E7-875B639E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Дополнить комплект, повторить проверку и сохранить результат.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DD1A5-ED7F-4256-AA17-B01F466F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Решение и отправка запроса остаются за сотрудником.</a:t>
            </a:r>
          </a:p>
        </p:txBody>
      </p:sp>
    </p:spTree>
    <p:extLst>
      <p:ext uri="{BB962C8B-B14F-4D97-AF65-F5344CB8AC3E}">
        <p14:creationId xmlns:p14="http://schemas.microsoft.com/office/powerpoint/2010/main" val="7407439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B989B-683E-4D8D-BEA6-47C4D240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Охват одного банковского процесса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17D469-BB4A-48D2-9C04-3005CB9A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777BC-F566-4A48-9379-BF6E453D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3C680-09E6-45B1-B8AA-EBCF952C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Сотрудники процесса × применимость задач</a:t>
            </a:r>
          </a:p>
          <a:p xmlns:a="http://schemas.openxmlformats.org/drawingml/2006/main">
            <a:pPr>
              <a:defRPr sz="27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× фактическое использование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317B4-7AB9-458A-9F08-E2383411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У владельца процесса запросим поток, число исполнителей и текущие инструменты.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D100F-9DEF-4B86-A28E-380EEE0F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00525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Обращения, сотрудники и клиенты считаются отдельно.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7C33B-8C7A-45AC-AC99-6DF176D0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24425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Численная оценка рынка пока не получена.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7E9412-2449-4D90-BF1F-D414CCC3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60 000 обращений в финансовой модели — сценарий команды, не оценка потока ВТБ.</a:t>
            </a:r>
          </a:p>
        </p:txBody>
      </p:sp>
    </p:spTree>
    <p:extLst>
      <p:ext uri="{BB962C8B-B14F-4D97-AF65-F5344CB8AC3E}">
        <p14:creationId xmlns:p14="http://schemas.microsoft.com/office/powerpoint/2010/main" val="13994333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BA7B5-FDEB-4412-9813-D31B0FDA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С чем сравниваем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2C6915-CB25-423B-8E3E-62ED747D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C8CCE5-C691-4D39-8F0A-A59B88C1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2FDD2-DDAE-40BD-98C7-87D8A9F08F69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7632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3810000"/>
                <a:gridCol w="3810000"/>
              </a:tblGrid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0B2345"/>
                          </a:solidFill>
                          <a:latin typeface="Arial"/>
                          <a:ea typeface="Arial"/>
                          <a:cs typeface="Arial"/>
                        </a:rPr>
                        <a:t>Альтернатива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T w="9525">
                      <a:solidFill>
                        <a:srgbClr val="CFD9E8"/>
                      </a:solidFill>
                      <a:prstDash val="solid"/>
                    </a:lnT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EAF0F9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0B2345"/>
                          </a:solidFill>
                          <a:latin typeface="Arial"/>
                          <a:ea typeface="Arial"/>
                          <a:cs typeface="Arial"/>
                        </a:rPr>
                        <a:t>Что уже описано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T w="9525">
                      <a:solidFill>
                        <a:srgbClr val="CFD9E8"/>
                      </a:solidFill>
                      <a:prstDash val="solid"/>
                    </a:lnT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EAF0F9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0B2345"/>
                          </a:solidFill>
                          <a:latin typeface="Arial"/>
                          <a:ea typeface="Arial"/>
                          <a:cs typeface="Arial"/>
                        </a:rPr>
                        <a:t>Что проверим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T w="9525">
                      <a:solidFill>
                        <a:srgbClr val="CFD9E8"/>
                      </a:solidFill>
                      <a:prstDash val="solid"/>
                    </a:lnT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EAF0F9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1С:Сверка 2.0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Сверка первички и банковских документов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Покрытие запроса сотрудника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Directum Ario One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состава комплекта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Актуальные правила и действия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Smart Document Engine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Локальное извлечение реквизитов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Путь сотрудника после OCR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Средства банка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Нужно обследование процесса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Время, качество и затраты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D09F4-61AB-4B78-B8AF-EEC6E000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Преимущество Trace ещё предстоит измерить. Неизученные функции не считаем отсутствующими.</a:t>
            </a:r>
          </a:p>
        </p:txBody>
      </p:sp>
    </p:spTree>
    <p:extLst>
      <p:ext uri="{BB962C8B-B14F-4D97-AF65-F5344CB8AC3E}">
        <p14:creationId xmlns:p14="http://schemas.microsoft.com/office/powerpoint/2010/main" val="2842856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7A5810-DCD6-4538-BA49-BC218621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Очередь обращений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23F78C-7285-419B-8E68-FCAB4E95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DDC20-8B3B-4B3E-B046-B61A9657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0FD9B-591B-4595-970E-919D1DD522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10644c6144e9f"/>
          <a:stretch xmlns:a="http://schemas.openxmlformats.org/drawingml/2006/main"/>
        </p:blipFill>
        <p:spPr>
          <a:xfrm xmlns:a="http://schemas.openxmlformats.org/drawingml/2006/main">
            <a:off x="854508" y="1600200"/>
            <a:ext cx="8292235" cy="4667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DC816-2285-4828-AD40-15126E0C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33625"/>
            <a:ext cx="1905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Клиент</a:t>
            </a:r>
          </a:p>
          <a:p xmlns:a="http://schemas.openxmlformats.org/drawingml/2006/main">
            <a: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Комплект</a:t>
            </a:r>
          </a:p>
          <a:p xmlns:a="http://schemas.openxmlformats.org/drawingml/2006/main">
            <a: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Статус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6AA3C-27C2-415D-AC81-64FBC32E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190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Настоящий</a:t>
            </a:r>
          </a:p>
          <a:p xmlns:a="http://schemas.openxmlformats.org/drawingml/2006/main">
            <a: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интерфейс сайта.</a:t>
            </a:r>
          </a:p>
          <a:p xmlns:a="http://schemas.openxmlformats.org/drawingml/2006/main">
            <a: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Все примеры</a:t>
            </a:r>
          </a:p>
          <a:p xmlns:a="http://schemas.openxmlformats.org/drawingml/2006/main">
            <a:pPr>
              <a:defRPr sz="16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вымышлены.</a:t>
            </a:r>
          </a:p>
        </p:txBody>
      </p:sp>
    </p:spTree>
    <p:extLst>
      <p:ext uri="{BB962C8B-B14F-4D97-AF65-F5344CB8AC3E}">
        <p14:creationId xmlns:p14="http://schemas.microsoft.com/office/powerpoint/2010/main" val="17331996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9A4A1-E3C7-436C-8D5E-F821D387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Реквизиты проверяет человек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A96A3-7D8C-4F6D-9F73-2AD84332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AC0F17-414B-44EA-9E7D-6B899E87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47D3F-28EB-4881-9067-DDF43F4F61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18599863145c5"/>
          <a:stretch xmlns:a="http://schemas.openxmlformats.org/drawingml/2006/main"/>
        </p:blipFill>
        <p:spPr>
          <a:xfrm xmlns:a="http://schemas.openxmlformats.org/drawingml/2006/main">
            <a:off x="759258" y="1600200"/>
            <a:ext cx="8292235" cy="4667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5156E-F0E1-438C-81C2-D2EE3B96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52625"/>
            <a:ext cx="2238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PDF, изображения</a:t>
            </a:r>
          </a:p>
          <a:p xmlns:a="http://schemas.openxmlformats.org/drawingml/2006/main">
            <a: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и TXT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7B5DB9-2BD8-44A8-AD19-8D0397A5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22383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Источник поля</a:t>
            </a:r>
          </a:p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виден рядом.</a:t>
            </a:r>
          </a:p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Ручное дополнение</a:t>
            </a:r>
          </a:p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отмечается</a:t>
            </a:r>
          </a:p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6138349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3AC9E3-7770-4794-A859-B9D3E984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Конкретная причина замечания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D96A73-9B62-4C88-A0D7-8615286B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8D910-47D1-49C0-AA6C-967D4683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AA9D9-6305-4D99-93E2-681080C01B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e654a8ad245a3"/>
          <a:stretch xmlns:a="http://schemas.openxmlformats.org/drawingml/2006/main"/>
        </p:blipFill>
        <p:spPr>
          <a:xfrm xmlns:a="http://schemas.openxmlformats.org/drawingml/2006/main">
            <a:off x="1055175" y="1619250"/>
            <a:ext cx="6938401" cy="3905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9863C5-79DB-4F33-9823-7E58D150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5262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480 000 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48BB1-037C-4623-9492-7821ADC9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193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Платёж по Д-41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BF5B7-6977-418E-80D9-28B9AFCB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33750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470 000 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0713B3-D050-447F-A82C-8563999F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005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Сумма УПД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622F3-8ABD-4C6A-AA22-5B68867C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012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Разница 10 000 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87E99-C57A-45A1-81D6-D9E44CC4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Учебный пример. Разница сумм требует пояснения, а не автоматического вывода о нарушении.</a:t>
            </a:r>
          </a:p>
        </p:txBody>
      </p:sp>
    </p:spTree>
    <p:extLst>
      <p:ext uri="{BB962C8B-B14F-4D97-AF65-F5344CB8AC3E}">
        <p14:creationId xmlns:p14="http://schemas.microsoft.com/office/powerpoint/2010/main" val="56838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31378-206E-471F-A9FD-DA4A915B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Готовность к банковскому пилоту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477B2-8DA3-4844-845D-CB967626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4B249-A4BB-4F3B-B86A-CE06C269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D1A43-1A18-4A06-A9F2-D1A82EF29F7E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76325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86375"/>
                <a:gridCol w="5476875"/>
              </a:tblGrid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0B2345"/>
                          </a:solidFill>
                          <a:latin typeface="Arial"/>
                          <a:ea typeface="Arial"/>
                          <a:cs typeface="Arial"/>
                        </a:rPr>
                        <a:t>В прототипе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T w="9525">
                      <a:solidFill>
                        <a:srgbClr val="CFD9E8"/>
                      </a:solidFill>
                      <a:prstDash val="solid"/>
                    </a:lnT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EAF0F9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0B2345"/>
                          </a:solidFill>
                          <a:latin typeface="Arial"/>
                          <a:ea typeface="Arial"/>
                          <a:cs typeface="Arial"/>
                        </a:rPr>
                        <a:t>Нужно до пилота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T w="9525">
                      <a:solidFill>
                        <a:srgbClr val="CFD9E8"/>
                      </a:solidFill>
                      <a:prstDash val="solid"/>
                    </a:lnT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EAF0F9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Загрузка, OCR и подтверждение полей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Эталонная банковская выборка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Правила комплектности и проект уточнения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Утверждение профиля экспертом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Clerk и история в браузере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Корпоративный вход и серверные права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Опубликованный учебный сценарий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Согласование данных, ИБ и интеграций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815CF-2BC1-40F8-AB2E-FCA1F8CC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Промышленная готовность и соответствие требованиям банка пока не подтверждены.</a:t>
            </a:r>
          </a:p>
        </p:txBody>
      </p:sp>
    </p:spTree>
    <p:extLst>
      <p:ext uri="{BB962C8B-B14F-4D97-AF65-F5344CB8AC3E}">
        <p14:creationId xmlns:p14="http://schemas.microsoft.com/office/powerpoint/2010/main" val="9123976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3D997-82EC-4810-9B5D-2EF83504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Как измерим пользу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722E5-5241-4AE8-B3D2-9FCC7BEE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FFCD32-4D6E-4EAF-9653-391853C8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691EAA-9BE1-4708-90BD-0475BD0E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Время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63351-2213-4089-8D9B-7D6C2E0B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28800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Весь разбор с проверкой OCR. Среднее — для экономики, медиана — для опыта.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8D3364-47DE-4023-80A3-B814C840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Качество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789F0-7FF0-473D-A0F5-5FA17A84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Точность и полнота замечаний по заранее размеченному эталону.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67B5E-A95D-4BFB-8918-48235DE5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Использование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3F04F-4CB1-46F0-BC6E-5A3931AB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05300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Доля подходящих обращений, реально прошедших через Trace.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BB0F24-F36F-41BA-9DBC-D12F1691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Цели сайта −25% времени и −20% повторных уточнений — предложения для пилота, не результат.</a:t>
            </a:r>
          </a:p>
        </p:txBody>
      </p:sp>
    </p:spTree>
    <p:extLst>
      <p:ext uri="{BB962C8B-B14F-4D97-AF65-F5344CB8AC3E}">
        <p14:creationId xmlns:p14="http://schemas.microsoft.com/office/powerpoint/2010/main" val="20332694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D26E5-4426-4991-899C-2BCDB31C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Экономика внедрения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5D252-835E-456C-ABE4-2C33FFD6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0D1ED-5DB4-42DB-AE78-F8CD0C52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D0818-B26E-48FC-960C-A65160EA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Поток × применимость × использование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52ECE-918E-475D-84C0-3D6BA6D1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× минуты / 60 × стоимость часа × реализация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220A0-4974-4F62-8E7F-681ADF5D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− ежегодная эксплуатация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348D2-D641-4AEF-99C9-39EB63FC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Разработка и интеграция: 2,4 млн ₽ разово.</a:t>
            </a:r>
          </a:p>
          <a:p xmlns:a="http://schemas.openxmlformats.org/drawingml/2006/main">
            <a: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Эксплуатация: 1,2 млн ₽ в год.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3F6EC-437A-4A63-A2F2-F534B338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Стоимость высвобождённого времени не равна денежной экономии. Механизм реализации проверим.</a:t>
            </a:r>
          </a:p>
        </p:txBody>
      </p:sp>
    </p:spTree>
    <p:extLst>
      <p:ext uri="{BB962C8B-B14F-4D97-AF65-F5344CB8AC3E}">
        <p14:creationId xmlns:p14="http://schemas.microsoft.com/office/powerpoint/2010/main" val="14737897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FEB3B-0DC0-43B3-AD3F-29BB48BF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Исходный сценарий не окупается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68710E-8768-4865-B410-0F0709CB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15B952-59B8-4083-AE5D-10C2401B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F00F1-E183-4682-AA6B-FD441507934B}"/>
              </a:ext>
            </a:extLst>
          </p:cNvPr>
          <p:cNvGraphicFramePr/>
          <p:nvPr/>
        </p:nvGraphicFramePr>
        <p:xfrm>
          <a:off xmlns:a="http://schemas.openxmlformats.org/drawingml/2006/main" x="666750" y="1733550"/>
          <a:ext xmlns:a="http://schemas.openxmlformats.org/drawingml/2006/main" cx="107632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3714750"/>
                <a:gridCol w="3571875"/>
              </a:tblGrid>
              <a:tr h="714375"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0B2345"/>
                          </a:solidFill>
                          <a:latin typeface="Arial"/>
                          <a:ea typeface="Arial"/>
                          <a:cs typeface="Arial"/>
                        </a:rPr>
                        <a:t>Поток, обращений/год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T w="9525">
                      <a:solidFill>
                        <a:srgbClr val="CFD9E8"/>
                      </a:solidFill>
                      <a:prstDash val="solid"/>
                    </a:lnT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EAF0F9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0B2345"/>
                          </a:solidFill>
                          <a:latin typeface="Arial"/>
                          <a:ea typeface="Arial"/>
                          <a:cs typeface="Arial"/>
                        </a:rPr>
                        <a:t>Эффект после расходов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T w="9525">
                      <a:solidFill>
                        <a:srgbClr val="CFD9E8"/>
                      </a:solidFill>
                      <a:prstDash val="solid"/>
                    </a:lnT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EAF0F9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1">
                          <a:solidFill>
                            <a:srgbClr val="0B2345"/>
                          </a:solidFill>
                          <a:latin typeface="Arial"/>
                          <a:ea typeface="Arial"/>
                          <a:cs typeface="Arial"/>
                        </a:rPr>
                        <a:t>Окупаемость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T w="9525">
                      <a:solidFill>
                        <a:srgbClr val="CFD9E8"/>
                      </a:solidFill>
                      <a:prstDash val="solid"/>
                    </a:lnT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EAF0F9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30 000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−633 тыс. ₽/год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Не достигается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60 000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−66 тыс. ₽/год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Не достигается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120 000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FD9E8"/>
                      </a:solidFill>
                      <a:prstDash val="solid"/>
                    </a:lnL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+1 068 тыс. ₽/год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650" b="0">
                          <a:solidFill>
                            <a:srgbClr val="50627B"/>
                          </a:solidFill>
                          <a:latin typeface="Arial"/>
                          <a:ea typeface="Arial"/>
                          <a:cs typeface="Arial"/>
                        </a:rPr>
                        <a:t>26,97 месяца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FD9E8"/>
                      </a:solidFill>
                      <a:prstDash val="solid"/>
                    </a:lnR>
                    <a:lnB w="9525">
                      <a:solidFill>
                        <a:srgbClr val="CFD9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55D28-EDF9-4F72-993A-F5F6A8D0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При прочих равных: 60% применимость, 70% использование,</a:t>
            </a:r>
          </a:p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6 минут, 900 ₽/час, 50% реализации стоимости времени.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FFE4E-BDDB-436C-B1C4-817A7042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Сценарии, не прогноз банка. Без налогов, дисконтирования и разгона.</a:t>
            </a:r>
          </a:p>
        </p:txBody>
      </p:sp>
    </p:spTree>
    <p:extLst>
      <p:ext uri="{BB962C8B-B14F-4D97-AF65-F5344CB8AC3E}">
        <p14:creationId xmlns:p14="http://schemas.microsoft.com/office/powerpoint/2010/main" val="21062122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44FB5-40DF-457A-8F85-7A832A5C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Ближайшие шаги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02DD81-53A2-4021-BAE0-EC54C126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02851-AE70-48D9-B021-3CB5CE8D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A786C-CD83-4C7B-8EE4-94EA0B95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До 1 ноября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36BF87-DA0C-435F-9676-A9660A4D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57375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Сдать прототип, аналитику, модель и методику проверки.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22CA3-6CD1-4627-B82B-3E1EE504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0375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5 ноября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852F8-AA17-4F2A-B703-32935223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00375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Провести запланированное проблемное интервью.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7E686-B410-488D-95FF-A5367CAF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309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Ноябрь–декабрь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C6ED2B-C65D-4EE4-8D3F-BBEFB1FD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43375"/>
            <a:ext cx="7381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Уточнить профиль и смету, проверить качество, подготовить план пилота.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C92EF-2F33-466C-92DC-922081E2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Сначала внутренний продукт одного банка. Условия оплаты и готовность платить не подтверждены.</a:t>
            </a:r>
          </a:p>
        </p:txBody>
      </p:sp>
    </p:spTree>
    <p:extLst>
      <p:ext uri="{BB962C8B-B14F-4D97-AF65-F5344CB8AC3E}">
        <p14:creationId xmlns:p14="http://schemas.microsoft.com/office/powerpoint/2010/main" val="49422347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B8FB6-6E7D-46C0-BE02-9E0BF6F5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Команда Super_Бобры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338293-41DA-4423-9D4C-088E8844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0733A8-99BD-46CC-91CD-B78DB7A6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0CAF7F-B555-45E0-A3E2-8BB97975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43075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ВИШ РУТ (МИИТ) · ШЦТ-211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82FF7D-742F-41A7-8046-394B0DC6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8001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Франчук Тимофей Сергеевич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Криницкий Сергей Сергеевич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Никитин Антон Павлович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69CE81-F3D0-4B27-B9B3-6EA7003409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df87e151cb4c03"/>
          <a:stretch xmlns:a="http://schemas.openxmlformats.org/drawingml/2006/main"/>
        </p:blipFill>
        <p:spPr>
          <a:xfrm xmlns:a="http://schemas.openxmlformats.org/drawingml/2006/main">
            <a:off x="8905875" y="2667000"/>
            <a:ext cx="2476500" cy="2476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F40E0-2D47-49E8-A286-F3C1A3EF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Три участника. Исследование и подготовку пилота распределяем внутри команды.</a:t>
            </a:r>
          </a:p>
        </p:txBody>
      </p:sp>
    </p:spTree>
    <p:extLst>
      <p:ext uri="{BB962C8B-B14F-4D97-AF65-F5344CB8AC3E}">
        <p14:creationId xmlns:p14="http://schemas.microsoft.com/office/powerpoint/2010/main" val="16738516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B6F7E-E529-4F7C-ADE1-424E018D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Основания и ограничения источников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7CAA4-5E80-47BB-80C3-22D4E996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B92AC-0B58-4FEF-96EE-E5F1F545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392EA-D09E-4FFE-874F-88EBD057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572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Бриф Академии Финтеха задаёт направление и требования спринта.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AB069-39D2-457D-A766-96822E5B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10572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Материалы производителей подтверждают функции альтернатив.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73BF9-D708-4956-896F-086F7803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9975"/>
            <a:ext cx="10572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Код и сайт показывают, что реализовано в текущем прототипе.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96190B-F5F7-4DB8-A141-C3243E08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10572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Частота проблемы, охват и эффект требуют исследования банка.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D4996-74B5-44C5-9508-C767F2F7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Полные ссылки и границы утверждений — в отдельном реестре источников аналитического пакета.</a:t>
            </a:r>
          </a:p>
        </p:txBody>
      </p:sp>
    </p:spTree>
    <p:extLst>
      <p:ext uri="{BB962C8B-B14F-4D97-AF65-F5344CB8AC3E}">
        <p14:creationId xmlns:p14="http://schemas.microsoft.com/office/powerpoint/2010/main" val="174425323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06677-3CC5-442C-AC81-BD4EE04C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Проект уточнения клиенту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B4A6A-AFAB-4BF1-B2B7-DC315B83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8C2D8-4B7C-4144-B434-5A515FB8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61C5B-DCE4-4A37-8252-75C0356E34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8d6a0e8734eb2"/>
          <a:stretch xmlns:a="http://schemas.openxmlformats.org/drawingml/2006/main"/>
        </p:blipFill>
        <p:spPr>
          <a:xfrm xmlns:a="http://schemas.openxmlformats.org/drawingml/2006/main">
            <a:off x="902133" y="1600200"/>
            <a:ext cx="8292235" cy="4667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B382D-44D9-4DAF-AAB8-04B7FE0B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905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Причина</a:t>
            </a:r>
          </a:p>
          <a:p xmlns:a="http://schemas.openxmlformats.org/drawingml/2006/main">
            <a: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и следующее</a:t>
            </a:r>
          </a:p>
          <a:p xmlns:a="http://schemas.openxmlformats.org/drawingml/2006/main">
            <a:pPr>
              <a:defRPr sz="2175" b="1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95CE5"/>
                </a:solidFill>
                <a:latin typeface="Arial"/>
                <a:ea typeface="Arial"/>
                <a:cs typeface="Arial"/>
              </a:rPr>
              <a:t>действие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EE85B-6AFD-42C3-9C4B-39C8838E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95750"/>
            <a:ext cx="1905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Сотрудник</a:t>
            </a:r>
          </a:p>
          <a:p xmlns:a="http://schemas.openxmlformats.org/drawingml/2006/main">
            <a: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проверяет текст</a:t>
            </a:r>
          </a:p>
          <a:p xmlns:a="http://schemas.openxmlformats.org/drawingml/2006/main">
            <a: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и отправляет</a:t>
            </a:r>
          </a:p>
          <a:p xmlns:a="http://schemas.openxmlformats.org/drawingml/2006/main">
            <a: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через канал</a:t>
            </a:r>
          </a:p>
          <a:p xmlns:a="http://schemas.openxmlformats.org/drawingml/2006/main">
            <a:pPr>
              <a:defRPr sz="172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банка.</a:t>
            </a:r>
          </a:p>
        </p:txBody>
      </p:sp>
    </p:spTree>
    <p:extLst>
      <p:ext uri="{BB962C8B-B14F-4D97-AF65-F5344CB8AC3E}">
        <p14:creationId xmlns:p14="http://schemas.microsoft.com/office/powerpoint/2010/main" val="12048820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3D9F08-9E3D-4012-8028-54A0B35A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Что подтвердит следующий этап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1DDA15-9745-4511-85D8-21CBDCE5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E17A5D-A153-438B-B5F9-CDB53FA1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4C1246-0376-4347-8E67-13D6FB4E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477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B2345"/>
                </a:solidFill>
                <a:latin typeface="Arial"/>
                <a:ea typeface="Arial"/>
                <a:cs typeface="Arial"/>
              </a:rPr>
              <a:t>Сотрудник показывает повторяемую задачу и неудобный обходной путь.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C082A-B604-4DC3-A773-913AF364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10477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сокращает активную работу при приемлемом качестве.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399EE-1657-4D48-AC90-04971488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9975"/>
            <a:ext cx="10477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Владелец процесса подтверждает входы модели и затраты внедрения.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DF5C9F-85AC-4A84-A6FF-3ED1E4FD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10477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Доступ к данным и требования ИБ позволяют согласованный пилот.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2374E-C915-43A5-8071-704781C1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Если существующие средства решают задачу лучше или экономика отрицательна — пересматриваем профиль.</a:t>
            </a:r>
          </a:p>
        </p:txBody>
      </p:sp>
    </p:spTree>
    <p:extLst>
      <p:ext uri="{BB962C8B-B14F-4D97-AF65-F5344CB8AC3E}">
        <p14:creationId xmlns:p14="http://schemas.microsoft.com/office/powerpoint/2010/main" val="192000425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79AB5-3D43-4A9F-9369-97B5DBD8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B815E-1D6A-40F3-A0FC-3252826D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57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TRACE  /  ПЕРВЫЙ СПРИНТ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E64A97-66CA-41C1-8310-24AB1D5B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F50066-1BFF-43BE-8639-BF735577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Проверка документов</a:t>
            </a:r>
          </a:p>
          <a:p xmlns:a="http://schemas.openxmlformats.org/drawingml/2006/main">
            <a:pPr>
              <a:defRPr sz="3300" b="1">
                <a:solidFill>
                  <a:srgbClr val="0B23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2345"/>
                </a:solidFill>
                <a:latin typeface="Arial"/>
                <a:ea typeface="Arial"/>
                <a:cs typeface="Arial"/>
              </a:rPr>
              <a:t>бизнес-клиентов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CC710-2847-4ED0-A78F-3CA86CA8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Сайт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A11F64-5BB8-4875-9404-0328D740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19500"/>
            <a:ext cx="790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95CE5"/>
                </a:solidFill>
                <a:latin typeface="Arial"/>
                <a:ea typeface="Arial"/>
                <a:cs typeface="Arial"/>
                <a:hlinkClick xmlns:r="http://schemas.openxmlformats.org/officeDocument/2006/relationships" r:id="R90f20c6f15804958"/>
              </a:rPr>
              <a:t>https://anton-nikitin21.github.io/trace-bank/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876F6-58E8-43DA-8E35-7B5B31CF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Рабочий кабинет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A3CF67-3367-4ED1-BE71-5DE732C3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33875"/>
            <a:ext cx="790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95CE5"/>
                </a:solidFill>
                <a:latin typeface="Arial"/>
                <a:ea typeface="Arial"/>
                <a:cs typeface="Arial"/>
                <a:hlinkClick xmlns:r="http://schemas.openxmlformats.org/officeDocument/2006/relationships" r:id="R585f36b8ed564cb5"/>
              </a:rPr>
              <a:t>https://anton-nikitin21.github.io/trace-bank/workspace.html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5954A-11DE-47F8-85FE-6D2F4382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48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Код и материалы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411F1-1C59-4ADE-959A-31563E33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48250"/>
            <a:ext cx="790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095CE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95CE5"/>
                </a:solidFill>
                <a:latin typeface="Arial"/>
                <a:ea typeface="Arial"/>
                <a:cs typeface="Arial"/>
                <a:hlinkClick xmlns:r="http://schemas.openxmlformats.org/officeDocument/2006/relationships" r:id="Rfd0e90d020784679"/>
              </a:rPr>
              <a:t>https://github.com/anton-nikitin21/trace-bank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5441F-DA43-4CD0-BE41-93FB83DE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27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27B"/>
                </a:solidFill>
                <a:latin typeface="Arial"/>
                <a:ea typeface="Arial"/>
                <a:cs typeface="Arial"/>
              </a:rPr>
              <a:t>Super_Бобры · Первый спринт · 27 октября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20294749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2026-10-27T12:12:57.2160000Z</dcterms:created>
  <dcterms:modified xsi:type="dcterms:W3CDTF">2026-10-27T12:12:57.2160000Z</dcterms:modified>
</coreProperties>
</file>